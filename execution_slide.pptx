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3385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142B4D"/>
                </a:solidFill>
                <a:latin typeface="Calibri"/>
              </a:rPr>
              <a:t>Testing Execution</a:t>
            </a:r>
            <a:r>
              <a:rPr sz="1700" b="0" i="0">
                <a:solidFill>
                  <a:srgbClr val="6C7280"/>
                </a:solidFill>
                <a:latin typeface="Calibri"/>
              </a:rPr>
              <a:t>   —   traces, fault injection, policy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338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6C7280"/>
                </a:solidFill>
                <a:latin typeface="Calibri"/>
              </a:rPr>
              <a:t>Essay 6  ·  Agus Sudjianto  &amp;  Aldo 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3385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50" b="0" i="0">
                <a:solidFill>
                  <a:srgbClr val="3E4450"/>
                </a:solidFill>
                <a:latin typeface="Calibri"/>
              </a:rPr>
              <a:t>Reasoning tests examine what the agent </a:t>
            </a:r>
            <a:r>
              <a:rPr sz="1400" b="1" i="1">
                <a:solidFill>
                  <a:srgbClr val="22262E"/>
                </a:solidFill>
                <a:latin typeface="Calibri"/>
              </a:rPr>
              <a:t>said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.  Execution tests examine what the agent </a:t>
            </a:r>
            <a:r>
              <a:rPr sz="1400" b="1" i="1">
                <a:solidFill>
                  <a:srgbClr val="1F6FB5"/>
                </a:solidFill>
                <a:latin typeface="Calibri"/>
              </a:rPr>
              <a:t>did</a:t>
            </a:r>
            <a:r>
              <a:rPr sz="1350" b="0" i="0">
                <a:solidFill>
                  <a:srgbClr val="3E4450"/>
                </a:solidFill>
                <a:latin typeface="Calibri"/>
              </a:rPr>
              <a:t>.  Three layers, installed at harness hooks, non-invasive to the SUT.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39" y="1627632"/>
            <a:ext cx="3520440" cy="3429000"/>
          </a:xfrm>
          <a:prstGeom prst="roundRect">
            <a:avLst/>
          </a:prstGeom>
          <a:solidFill>
            <a:srgbClr val="FBE9E7"/>
          </a:solidFill>
          <a:ln w="9525">
            <a:solidFill>
              <a:srgbClr val="B2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39" y="1627632"/>
            <a:ext cx="3520440" cy="411480"/>
          </a:xfrm>
          <a:prstGeom prst="round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39" y="1929384"/>
            <a:ext cx="3520440" cy="109728"/>
          </a:xfrm>
          <a:prstGeom prst="rect">
            <a:avLst/>
          </a:prstGeom>
          <a:solidFill>
            <a:srgbClr val="B2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49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SUT trace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adapter captures what ran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3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Wrap the agent in an </a:t>
            </a:r>
            <a:r>
              <a:rPr sz="1150" b="1" i="0">
                <a:solidFill>
                  <a:srgbClr val="22262E"/>
                </a:solidFill>
                <a:latin typeface="Calibri"/>
              </a:rPr>
              <a:t>adapter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  Record every run as an </a:t>
            </a:r>
            <a:r>
              <a:rPr sz="1150" b="1" i="0">
                <a:solidFill>
                  <a:srgbClr val="22262E"/>
                </a:solidFill>
                <a:latin typeface="Consolas"/>
              </a:rPr>
              <a:t>SUTTrace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B23A2F"/>
                </a:solidFill>
                <a:latin typeface="Calibri"/>
              </a:rPr>
              <a:t>Each trace carries: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tool_calls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name, args, result, per-call latency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latency_ms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token_count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· 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retrieved_context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error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Installed at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harness hooks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(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on_tool_call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,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on_tool_result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)  —  re-entrant, non-invasive.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Every claim about what the agent </a:t>
            </a:r>
            <a:r>
              <a:rPr sz="1050" b="1" i="1">
                <a:solidFill>
                  <a:srgbClr val="B23A2F"/>
                </a:solidFill>
                <a:latin typeface="Calibri"/>
              </a:rPr>
              <a:t>did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is grounded in the trace.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1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B23A2F"/>
                </a:solidFill>
                <a:latin typeface="Calibri"/>
              </a:rPr>
              <a:t>one uniform interface across LLM · agent · RAG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00499" y="3154680"/>
            <a:ext cx="320040" cy="365760"/>
          </a:xfrm>
          <a:prstGeom prst="rightArrow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6259" y="1627632"/>
            <a:ext cx="3520440" cy="3429000"/>
          </a:xfrm>
          <a:prstGeom prst="roundRect">
            <a:avLst/>
          </a:prstGeom>
          <a:solidFill>
            <a:srgbClr val="E6F0FA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59" y="1627632"/>
            <a:ext cx="3520440" cy="4114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6259" y="1929384"/>
            <a:ext cx="3520440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341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Tool gateway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intercept · inject · observe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9485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373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 i="0">
                <a:solidFill>
                  <a:srgbClr val="3E4450"/>
                </a:solidFill>
                <a:latin typeface="Calibri"/>
              </a:rPr>
              <a:t>A </a:t>
            </a:r>
            <a:r>
              <a:rPr sz="1150" b="1" i="0">
                <a:solidFill>
                  <a:srgbClr val="22262E"/>
                </a:solidFill>
                <a:latin typeface="Consolas"/>
              </a:rPr>
              <a:t>ToolGateway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 sits between agent and tool and applies a </a:t>
            </a:r>
            <a:r>
              <a:rPr sz="1150" b="1" i="0">
                <a:solidFill>
                  <a:srgbClr val="22262E"/>
                </a:solidFill>
                <a:latin typeface="Consolas"/>
              </a:rPr>
              <a:t>FaultProfile</a:t>
            </a:r>
            <a:r>
              <a:rPr sz="11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1F6FB5"/>
                </a:solidFill>
                <a:latin typeface="Calibri"/>
              </a:rPr>
              <a:t>Per-call decision: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</a:t>
            </a:r>
            <a:r>
              <a:rPr sz="1050" b="1" i="0">
                <a:solidFill>
                  <a:srgbClr val="2E8B57"/>
                </a:solidFill>
                <a:latin typeface="Consolas"/>
              </a:rPr>
              <a:t>allow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· </a:t>
            </a:r>
            <a:r>
              <a:rPr sz="1050" b="1" i="0">
                <a:solidFill>
                  <a:srgbClr val="B23A2F"/>
                </a:solidFill>
                <a:latin typeface="Consolas"/>
              </a:rPr>
              <a:t>block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· </a:t>
            </a:r>
            <a:r>
              <a:rPr sz="1050" b="1" i="0">
                <a:solidFill>
                  <a:srgbClr val="1F6FB5"/>
                </a:solidFill>
                <a:latin typeface="Consolas"/>
              </a:rPr>
              <a:t>inject_fault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</a:t>
            </a:r>
            <a:r>
              <a:rPr sz="1050" b="1" i="0">
                <a:solidFill>
                  <a:srgbClr val="1F6FB5"/>
                </a:solidFill>
                <a:latin typeface="Consolas"/>
              </a:rPr>
              <a:t>mock_response</a:t>
            </a:r>
            <a:r>
              <a:rPr sz="1050" b="0" i="0">
                <a:solidFill>
                  <a:srgbClr val="22262E"/>
                </a:solidFill>
                <a:latin typeface="Calibri"/>
              </a:rPr>
              <a:t> · </a:t>
            </a:r>
            <a:r>
              <a:rPr sz="1050" b="1" i="0">
                <a:solidFill>
                  <a:srgbClr val="1F6FB5"/>
                </a:solidFill>
                <a:latin typeface="Consolas"/>
              </a:rPr>
              <a:t>stale_data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Profile fields: 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tool_pattern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error_rate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latency_ms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2262E"/>
                </a:solidFill>
                <a:latin typeface="Calibri"/>
              </a:rPr>
              <a:t>Observe recovery: 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retry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fallback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escalate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Every decision logged to a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GatewayTranscript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913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1F6FB5"/>
                </a:solidFill>
                <a:latin typeface="Calibri"/>
              </a:rPr>
              <a:t>seeded, replayable, reconciles with the trace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32419" y="3154680"/>
            <a:ext cx="32004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8179" y="1627632"/>
            <a:ext cx="3520440" cy="3429000"/>
          </a:xfrm>
          <a:prstGeom prst="roundRect">
            <a:avLst/>
          </a:prstGeom>
          <a:solidFill>
            <a:srgbClr val="E7F4EC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98179" y="1627632"/>
            <a:ext cx="35204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98179" y="1929384"/>
            <a:ext cx="352044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5339" y="1664208"/>
            <a:ext cx="324612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Policy engine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   four-layer pre-execution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6779" y="2221992"/>
            <a:ext cx="30632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5651" y="2340864"/>
            <a:ext cx="2825496" cy="22128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E4450"/>
                </a:solidFill>
                <a:latin typeface="Calibri"/>
              </a:rPr>
              <a:t>Gateway asks </a:t>
            </a:r>
            <a:r>
              <a:rPr sz="1100" b="1" i="1">
                <a:solidFill>
                  <a:srgbClr val="22262E"/>
                </a:solidFill>
                <a:latin typeface="Calibri"/>
              </a:rPr>
              <a:t>can this succeed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  Policy asks </a:t>
            </a:r>
            <a:r>
              <a:rPr sz="1100" b="1" i="1">
                <a:solidFill>
                  <a:srgbClr val="2E8B57"/>
                </a:solidFill>
                <a:latin typeface="Calibri"/>
              </a:rPr>
              <a:t>should it be permitted</a:t>
            </a:r>
            <a:r>
              <a:rPr sz="110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Four layers, in order: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1.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Explicit rules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fnmatch on </a:t>
            </a:r>
            <a:r>
              <a:rPr sz="1050" b="0" i="0">
                <a:solidFill>
                  <a:srgbClr val="22262E"/>
                </a:solidFill>
                <a:latin typeface="Consolas"/>
              </a:rPr>
              <a:t>PolicyRule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s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2.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Graph lookup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implicit rules in GMS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3.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Geometric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     calibrated plausibility</a:t>
            </a:r>
          </a:p>
          <a:p>
            <a:pPr algn="l"/>
            <a:r>
              <a:rPr sz="1050" b="0" i="0">
                <a:solidFill>
                  <a:srgbClr val="22262E"/>
                </a:solidFill>
                <a:latin typeface="Calibri"/>
              </a:rPr>
              <a:t>  4.  </a:t>
            </a:r>
            <a:r>
              <a:rPr sz="1050" b="1" i="0">
                <a:solidFill>
                  <a:srgbClr val="22262E"/>
                </a:solidFill>
                <a:latin typeface="Calibri"/>
              </a:rPr>
              <a:t>Contradiction</a:t>
            </a:r>
            <a:r>
              <a:rPr sz="1050" b="0" i="1">
                <a:solidFill>
                  <a:srgbClr val="3E4450"/>
                </a:solidFill>
                <a:latin typeface="Calibri"/>
              </a:rPr>
              <a:t>      tension energy on rule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Rule types: 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requires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blocks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 · </a:t>
            </a:r>
            <a:r>
              <a:rPr sz="1050" b="1" i="0">
                <a:solidFill>
                  <a:srgbClr val="22262E"/>
                </a:solidFill>
                <a:latin typeface="Consolas"/>
              </a:rPr>
              <a:t>allows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  <a:p>
            <a:pPr algn="l"/>
            <a:r>
              <a:rPr sz="400" b="0" i="0">
                <a:solidFill>
                  <a:srgbClr val="22262E"/>
                </a:solidFill>
                <a:latin typeface="Calibri"/>
              </a:rPr>
              <a:t> </a:t>
            </a:r>
          </a:p>
          <a:p>
            <a:pPr algn="l"/>
            <a:r>
              <a:rPr sz="1050" b="0" i="0">
                <a:solidFill>
                  <a:srgbClr val="3E4450"/>
                </a:solidFill>
                <a:latin typeface="Calibri"/>
              </a:rPr>
              <a:t>Same GMS primitives that verify facts now </a:t>
            </a:r>
            <a:r>
              <a:rPr sz="1050" b="1" i="1">
                <a:solidFill>
                  <a:srgbClr val="2E8B57"/>
                </a:solidFill>
                <a:latin typeface="Calibri"/>
              </a:rPr>
              <a:t>enforce governance</a:t>
            </a:r>
            <a:r>
              <a:rPr sz="1050" b="0" i="0">
                <a:solidFill>
                  <a:srgbClr val="3E4450"/>
                </a:solidFill>
                <a:latin typeface="Calibr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1059" y="4672584"/>
            <a:ext cx="3154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50" b="1" i="1">
                <a:solidFill>
                  <a:srgbClr val="2E8B57"/>
                </a:solidFill>
                <a:latin typeface="Calibri"/>
              </a:rPr>
              <a:t>one policy store  ·  one audit log  ·  one calibration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212080"/>
            <a:ext cx="113385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76088"/>
            <a:ext cx="28346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142B4D"/>
                </a:solidFill>
                <a:latin typeface="Calibri"/>
              </a:rPr>
              <a:t>520-question E2E run: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5276088"/>
            <a:ext cx="83210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22262E"/>
                </a:solidFill>
                <a:latin typeface="Consolas"/>
              </a:rPr>
              <a:t>1 733 gateway decisions   →   </a:t>
            </a:r>
            <a:r>
              <a:rPr sz="1100" b="1" i="0">
                <a:solidFill>
                  <a:srgbClr val="2E8B57"/>
                </a:solidFill>
                <a:latin typeface="Consolas"/>
              </a:rPr>
              <a:t>1 395 allow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·  </a:t>
            </a:r>
            <a:r>
              <a:rPr sz="1100" b="1" i="0">
                <a:solidFill>
                  <a:srgbClr val="1F6FB5"/>
                </a:solidFill>
                <a:latin typeface="Consolas"/>
              </a:rPr>
              <a:t>169 inject_fault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·  </a:t>
            </a:r>
            <a:r>
              <a:rPr sz="1100" b="1" i="0">
                <a:solidFill>
                  <a:srgbClr val="B23A2F"/>
                </a:solidFill>
                <a:latin typeface="Consolas"/>
              </a:rPr>
              <a:t>169 policy block</a:t>
            </a:r>
            <a:r>
              <a:rPr sz="1100" b="0" i="0">
                <a:solidFill>
                  <a:srgbClr val="22262E"/>
                </a:solidFill>
                <a:latin typeface="Consolas"/>
              </a:rPr>
              <a:t>     </a:t>
            </a:r>
            <a:r>
              <a:rPr sz="1000" b="0" i="1">
                <a:solidFill>
                  <a:srgbClr val="6C7280"/>
                </a:solidFill>
                <a:latin typeface="Consolas"/>
              </a:rPr>
              <a:t>(trace &amp; transcript reconcile)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870448"/>
            <a:ext cx="11338560" cy="868680"/>
          </a:xfrm>
          <a:prstGeom prst="round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96188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Observe with the adapter.  Stress with the gateway.  Enforce with the policy engine.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Three layers, composable, all written to audit.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09360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Every trace reconciles with every transcript.  Every policy block names the rule that fired.  </a:t>
            </a:r>
            <a:r>
              <a:rPr sz="1100" b="0" i="1">
                <a:solidFill>
                  <a:srgbClr val="FFFFFF"/>
                </a:solidFill>
                <a:latin typeface="Calibri"/>
              </a:rPr>
              <a:t>An agent that finishes on time is not an agent that acted correctly.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