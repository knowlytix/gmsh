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3385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142B4D"/>
                </a:solidFill>
                <a:latin typeface="Calibri"/>
              </a:rPr>
              <a:t>Judging Agent Output</a:t>
            </a:r>
            <a:r>
              <a:rPr sz="1700" b="0" i="0">
                <a:solidFill>
                  <a:srgbClr val="6C7280"/>
                </a:solidFill>
                <a:latin typeface="Calibri"/>
              </a:rPr>
              <a:t>   —   geometric verification without LLM 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3385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6C7280"/>
                </a:solidFill>
                <a:latin typeface="Calibri"/>
              </a:rPr>
              <a:t>Essay 4  ·  Agus Sudjianto  &amp;  Aldo Lau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13385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22262E"/>
                </a:solidFill>
                <a:latin typeface="Calibri"/>
              </a:rPr>
              <a:t>520 well-designed test cases are only useful if we can score them right.  </a:t>
            </a:r>
            <a:r>
              <a:rPr sz="1350" b="0" i="0">
                <a:solidFill>
                  <a:srgbClr val="3E4450"/>
                </a:solidFill>
                <a:latin typeface="Calibri"/>
              </a:rPr>
              <a:t>The obvious answers fail in different ways.  We need a judge that is </a:t>
            </a:r>
            <a:r>
              <a:rPr sz="1350" b="1" i="1">
                <a:solidFill>
                  <a:srgbClr val="1F6FB5"/>
                </a:solidFill>
                <a:latin typeface="Calibri"/>
              </a:rPr>
              <a:t>calibrated, deterministic, and auditable</a:t>
            </a:r>
            <a:r>
              <a:rPr sz="1350" b="0" i="0">
                <a:solidFill>
                  <a:srgbClr val="3E4450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39" y="1627632"/>
            <a:ext cx="3520440" cy="3429000"/>
          </a:xfrm>
          <a:prstGeom prst="roundRect">
            <a:avLst/>
          </a:prstGeom>
          <a:solidFill>
            <a:srgbClr val="FBE9E7"/>
          </a:solidFill>
          <a:ln w="9525">
            <a:solidFill>
              <a:srgbClr val="B2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39" y="1627632"/>
            <a:ext cx="3520440" cy="411480"/>
          </a:xfrm>
          <a:prstGeom prst="roundRect">
            <a:avLst/>
          </a:prstGeom>
          <a:solidFill>
            <a:srgbClr val="B2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39" y="1929384"/>
            <a:ext cx="3520440" cy="109728"/>
          </a:xfrm>
          <a:prstGeom prst="rect">
            <a:avLst/>
          </a:prstGeom>
          <a:solidFill>
            <a:srgbClr val="B2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499" y="1664208"/>
            <a:ext cx="324612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The trilemma</a:t>
            </a:r>
            <a:r>
              <a:rPr sz="1100" b="0" i="1">
                <a:solidFill>
                  <a:srgbClr val="FFFFFF"/>
                </a:solidFill>
                <a:latin typeface="Calibri"/>
              </a:rPr>
              <a:t>   three scorings, three failures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39" y="2221992"/>
            <a:ext cx="306324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3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1" y="2340864"/>
            <a:ext cx="2825496" cy="22128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22262E"/>
                </a:solidFill>
                <a:latin typeface="Calibri"/>
              </a:rPr>
              <a:t>Exact string match</a:t>
            </a:r>
          </a:p>
          <a:p>
            <a:pPr algn="l"/>
            <a:r>
              <a:rPr sz="1000" b="0" i="0">
                <a:solidFill>
                  <a:srgbClr val="22262E"/>
                </a:solidFill>
                <a:latin typeface="Calibri"/>
              </a:rPr>
              <a:t>   </a:t>
            </a:r>
            <a:r>
              <a:rPr sz="1050" b="0" i="1">
                <a:solidFill>
                  <a:srgbClr val="3E4450"/>
                </a:solidFill>
                <a:latin typeface="Calibri"/>
              </a:rPr>
              <a:t>23.8%  —  brittle to paraphrase, reorder, hedge.</a:t>
            </a:r>
          </a:p>
          <a:p>
            <a:pPr algn="l"/>
            <a:r>
              <a:rPr sz="6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200" b="1" i="0">
                <a:solidFill>
                  <a:srgbClr val="22262E"/>
                </a:solidFill>
                <a:latin typeface="Calibri"/>
              </a:rPr>
              <a:t>Knowledge-graph lookup</a:t>
            </a:r>
          </a:p>
          <a:p>
            <a:pPr algn="l"/>
            <a:r>
              <a:rPr sz="1000" b="0" i="0">
                <a:solidFill>
                  <a:srgbClr val="22262E"/>
                </a:solidFill>
                <a:latin typeface="Calibri"/>
              </a:rPr>
              <a:t>   </a:t>
            </a:r>
            <a:r>
              <a:rPr sz="1050" b="0" i="1">
                <a:solidFill>
                  <a:srgbClr val="3E4450"/>
                </a:solidFill>
                <a:latin typeface="Calibri"/>
              </a:rPr>
              <a:t>Breaks on relational and multi-hop questions.</a:t>
            </a:r>
          </a:p>
          <a:p>
            <a:pPr algn="l"/>
            <a:r>
              <a:rPr sz="6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200" b="1" i="0">
                <a:solidFill>
                  <a:srgbClr val="22262E"/>
                </a:solidFill>
                <a:latin typeface="Calibri"/>
              </a:rPr>
              <a:t>LLM-as-judge</a:t>
            </a:r>
          </a:p>
          <a:p>
            <a:pPr algn="l"/>
            <a:r>
              <a:rPr sz="1000" b="0" i="0">
                <a:solidFill>
                  <a:srgbClr val="22262E"/>
                </a:solidFill>
                <a:latin typeface="Calibri"/>
              </a:rPr>
              <a:t>   </a:t>
            </a:r>
            <a:r>
              <a:rPr sz="1050" b="0" i="1">
                <a:solidFill>
                  <a:srgbClr val="3E4450"/>
                </a:solidFill>
                <a:latin typeface="Calibri"/>
              </a:rPr>
              <a:t>80% false accept  —  anchors on nearby text, cannot tell </a:t>
            </a:r>
          </a:p>
          <a:p>
            <a:pPr algn="l"/>
            <a:r>
              <a:rPr sz="1000" b="0" i="0">
                <a:solidFill>
                  <a:srgbClr val="22262E"/>
                </a:solidFill>
                <a:latin typeface="Calibri"/>
              </a:rPr>
              <a:t>   </a:t>
            </a:r>
            <a:r>
              <a:rPr sz="1050" b="0" i="1">
                <a:solidFill>
                  <a:srgbClr val="3E4450"/>
                </a:solidFill>
                <a:latin typeface="Calibri"/>
              </a:rPr>
              <a:t>"test AUC 0.8412" from "train AUC 0.8934" in prose.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19" y="4672584"/>
            <a:ext cx="3154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100" b="1" i="1">
                <a:solidFill>
                  <a:srgbClr val="B23A2F"/>
                </a:solidFill>
                <a:latin typeface="Calibri"/>
              </a:rPr>
              <a:t>none produces an auditable scalar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00499" y="3154680"/>
            <a:ext cx="320040" cy="365760"/>
          </a:xfrm>
          <a:prstGeom prst="rightArrow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66259" y="1627632"/>
            <a:ext cx="3520440" cy="3429000"/>
          </a:xfrm>
          <a:prstGeom prst="roundRect">
            <a:avLst/>
          </a:prstGeom>
          <a:solidFill>
            <a:srgbClr val="E6F0FA"/>
          </a:solidFill>
          <a:ln w="9525"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66259" y="1627632"/>
            <a:ext cx="3520440" cy="41148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6259" y="1929384"/>
            <a:ext cx="3520440" cy="109728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3419" y="1664208"/>
            <a:ext cx="324612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Geometric Judge</a:t>
            </a:r>
            <a:r>
              <a:rPr sz="1100" b="0" i="1">
                <a:solidFill>
                  <a:srgbClr val="FFFFFF"/>
                </a:solidFill>
                <a:latin typeface="Calibri"/>
              </a:rPr>
              <a:t>   inverse provenance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94859" y="2221992"/>
            <a:ext cx="306324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3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13731" y="2340864"/>
            <a:ext cx="2825496" cy="22128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50" b="0" i="0">
                <a:solidFill>
                  <a:srgbClr val="3E4450"/>
                </a:solidFill>
                <a:latin typeface="Calibri"/>
              </a:rPr>
              <a:t>Every question was generated by </a:t>
            </a:r>
            <a:r>
              <a:rPr sz="1150" b="1" i="0">
                <a:solidFill>
                  <a:srgbClr val="22262E"/>
                </a:solidFill>
                <a:latin typeface="Calibri"/>
              </a:rPr>
              <a:t>one primitive</a:t>
            </a:r>
            <a:r>
              <a:rPr sz="1150" b="0" i="0">
                <a:solidFill>
                  <a:srgbClr val="3E4450"/>
                </a:solidFill>
                <a:latin typeface="Calibri"/>
              </a:rPr>
              <a:t>.  Score it with the </a:t>
            </a:r>
            <a:r>
              <a:rPr sz="1150" b="1" i="0">
                <a:solidFill>
                  <a:srgbClr val="22262E"/>
                </a:solidFill>
                <a:latin typeface="Calibri"/>
              </a:rPr>
              <a:t>same primitive</a:t>
            </a:r>
            <a:r>
              <a:rPr sz="1150" b="0" i="0">
                <a:solidFill>
                  <a:srgbClr val="3E4450"/>
                </a:solidFill>
                <a:latin typeface="Calibri"/>
              </a:rPr>
              <a:t>.</a:t>
            </a:r>
          </a:p>
          <a:p>
            <a:pPr algn="l"/>
            <a:r>
              <a:rPr sz="4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150" b="1" i="0">
                <a:solidFill>
                  <a:srgbClr val="1F6FB5"/>
                </a:solidFill>
                <a:latin typeface="Calibri"/>
              </a:rPr>
              <a:t>Five measures, never averaged:</a:t>
            </a:r>
          </a:p>
          <a:p>
            <a:pPr algn="l"/>
            <a:r>
              <a:rPr sz="1100" b="1" i="0">
                <a:solidFill>
                  <a:srgbClr val="22262E"/>
                </a:solidFill>
                <a:latin typeface="Calibri"/>
              </a:rPr>
              <a:t>    ·  distance</a:t>
            </a:r>
            <a:r>
              <a:rPr sz="1050" b="0" i="1">
                <a:solidFill>
                  <a:srgbClr val="3E4450"/>
                </a:solidFill>
                <a:latin typeface="Calibri"/>
              </a:rPr>
              <a:t>   plausibility, link, multi-hop, ...</a:t>
            </a:r>
          </a:p>
          <a:p>
            <a:pPr algn="l"/>
            <a:r>
              <a:rPr sz="1100" b="1" i="0">
                <a:solidFill>
                  <a:srgbClr val="22262E"/>
                </a:solidFill>
                <a:latin typeface="Calibri"/>
              </a:rPr>
              <a:t>    ·  polarity</a:t>
            </a:r>
            <a:r>
              <a:rPr sz="1050" b="0" i="1">
                <a:solidFill>
                  <a:srgbClr val="3E4450"/>
                </a:solidFill>
                <a:latin typeface="Calibri"/>
              </a:rPr>
              <a:t>   agree / unrelated / contradict</a:t>
            </a:r>
          </a:p>
          <a:p>
            <a:pPr algn="l"/>
            <a:r>
              <a:rPr sz="1100" b="1" i="0">
                <a:solidFill>
                  <a:srgbClr val="22262E"/>
                </a:solidFill>
                <a:latin typeface="Calibri"/>
              </a:rPr>
              <a:t>    ·  path</a:t>
            </a:r>
            <a:r>
              <a:rPr sz="1050" b="0" i="1">
                <a:solidFill>
                  <a:srgbClr val="3E4450"/>
                </a:solidFill>
                <a:latin typeface="Calibri"/>
              </a:rPr>
              <a:t>   multi-hop consistency</a:t>
            </a:r>
          </a:p>
          <a:p>
            <a:pPr algn="l"/>
            <a:r>
              <a:rPr sz="1100" b="1" i="0">
                <a:solidFill>
                  <a:srgbClr val="22262E"/>
                </a:solidFill>
                <a:latin typeface="Calibri"/>
              </a:rPr>
              <a:t>    ·  phase</a:t>
            </a:r>
            <a:r>
              <a:rPr sz="1050" b="0" i="1">
                <a:solidFill>
                  <a:srgbClr val="3E4450"/>
                </a:solidFill>
                <a:latin typeface="Calibri"/>
              </a:rPr>
              <a:t>   ordered numeric comparison</a:t>
            </a:r>
          </a:p>
          <a:p>
            <a:pPr algn="l"/>
            <a:r>
              <a:rPr sz="1100" b="1" i="0">
                <a:solidFill>
                  <a:srgbClr val="22262E"/>
                </a:solidFill>
                <a:latin typeface="Calibri"/>
              </a:rPr>
              <a:t>    ·  exact</a:t>
            </a:r>
            <a:r>
              <a:rPr sz="1050" b="0" i="1">
                <a:solidFill>
                  <a:srgbClr val="3E4450"/>
                </a:solidFill>
                <a:latin typeface="Calibri"/>
              </a:rPr>
              <a:t>   bit-exact value + integrity hash</a:t>
            </a:r>
          </a:p>
          <a:p>
            <a:pPr algn="l"/>
            <a:r>
              <a:rPr sz="4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100" b="0" i="0">
                <a:solidFill>
                  <a:srgbClr val="3E4450"/>
                </a:solidFill>
                <a:latin typeface="Calibri"/>
              </a:rPr>
              <a:t>Thresholds </a:t>
            </a:r>
            <a:r>
              <a:rPr sz="1100" b="1" i="0">
                <a:solidFill>
                  <a:srgbClr val="22262E"/>
                </a:solidFill>
                <a:latin typeface="Calibri"/>
              </a:rPr>
              <a:t>calibrated from the store itself</a:t>
            </a:r>
            <a:r>
              <a:rPr sz="1100" b="0" i="0">
                <a:solidFill>
                  <a:srgbClr val="3E4450"/>
                </a:solidFill>
                <a:latin typeface="Calibri"/>
              </a:rPr>
              <a:t>  —  no hand-tuning, no LLM help.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9139" y="4672584"/>
            <a:ext cx="3154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100" b="1" i="1">
                <a:solidFill>
                  <a:srgbClr val="1F6FB5"/>
                </a:solidFill>
                <a:latin typeface="Calibri"/>
              </a:rPr>
              <a:t>one question  →  one primitive  →  one scalar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932419" y="3154680"/>
            <a:ext cx="320040" cy="365760"/>
          </a:xfrm>
          <a:prstGeom prst="rightArrow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98179" y="1627632"/>
            <a:ext cx="3520440" cy="3429000"/>
          </a:xfrm>
          <a:prstGeom prst="roundRect">
            <a:avLst/>
          </a:prstGeom>
          <a:solidFill>
            <a:srgbClr val="E7F4EC"/>
          </a:solidFill>
          <a:ln w="9525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98179" y="1627632"/>
            <a:ext cx="3520440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98179" y="1929384"/>
            <a:ext cx="3520440" cy="10972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5339" y="1664208"/>
            <a:ext cx="324612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Head-to-head</a:t>
            </a:r>
            <a:r>
              <a:rPr sz="1100" b="0" i="1">
                <a:solidFill>
                  <a:srgbClr val="FFFFFF"/>
                </a:solidFill>
                <a:latin typeface="Calibri"/>
              </a:rPr>
              <a:t>   same benchmark, same day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26779" y="2221992"/>
            <a:ext cx="306324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3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5651" y="2340864"/>
            <a:ext cx="2825496" cy="22128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22262E"/>
                </a:solidFill>
                <a:latin typeface="Consolas"/>
              </a:rPr>
              <a:t>           </a:t>
            </a:r>
            <a:r>
              <a:rPr sz="1050" b="1" i="0">
                <a:solidFill>
                  <a:srgbClr val="2E8B57"/>
                </a:solidFill>
                <a:latin typeface="Calibri"/>
              </a:rPr>
              <a:t>Geometric</a:t>
            </a:r>
            <a:r>
              <a:rPr sz="1050" b="0" i="0">
                <a:solidFill>
                  <a:srgbClr val="22262E"/>
                </a:solidFill>
                <a:latin typeface="Calibri"/>
              </a:rPr>
              <a:t>      </a:t>
            </a:r>
            <a:r>
              <a:rPr sz="1050" b="1" i="0">
                <a:solidFill>
                  <a:srgbClr val="B23A2F"/>
                </a:solidFill>
                <a:latin typeface="Calibri"/>
              </a:rPr>
              <a:t>LLM-as-judge</a:t>
            </a:r>
          </a:p>
          <a:p>
            <a:pPr algn="l"/>
            <a:r>
              <a:rPr sz="4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100" b="1" i="0">
                <a:solidFill>
                  <a:srgbClr val="22262E"/>
                </a:solidFill>
                <a:latin typeface="Calibri"/>
              </a:rPr>
              <a:t>Accuracy</a:t>
            </a:r>
            <a:r>
              <a:rPr sz="1100" b="0" i="0">
                <a:solidFill>
                  <a:srgbClr val="22262E"/>
                </a:solidFill>
                <a:latin typeface="Consolas"/>
              </a:rPr>
              <a:t>         </a:t>
            </a:r>
            <a:r>
              <a:rPr sz="1150" b="1" i="0">
                <a:solidFill>
                  <a:srgbClr val="2E8B57"/>
                </a:solidFill>
                <a:latin typeface="Consolas"/>
              </a:rPr>
              <a:t>92.7%</a:t>
            </a:r>
            <a:r>
              <a:rPr sz="1100" b="0" i="0">
                <a:solidFill>
                  <a:srgbClr val="22262E"/>
                </a:solidFill>
                <a:latin typeface="Consolas"/>
              </a:rPr>
              <a:t>        </a:t>
            </a:r>
            <a:r>
              <a:rPr sz="1150" b="1" i="0">
                <a:solidFill>
                  <a:srgbClr val="B23A2F"/>
                </a:solidFill>
                <a:latin typeface="Consolas"/>
              </a:rPr>
              <a:t>53.1%</a:t>
            </a:r>
          </a:p>
          <a:p>
            <a:pPr algn="l"/>
            <a:r>
              <a:rPr sz="1100" b="1" i="0">
                <a:solidFill>
                  <a:srgbClr val="22262E"/>
                </a:solidFill>
                <a:latin typeface="Calibri"/>
              </a:rPr>
              <a:t>False accept</a:t>
            </a:r>
            <a:r>
              <a:rPr sz="1100" b="0" i="0">
                <a:solidFill>
                  <a:srgbClr val="22262E"/>
                </a:solidFill>
                <a:latin typeface="Consolas"/>
              </a:rPr>
              <a:t>     </a:t>
            </a:r>
            <a:r>
              <a:rPr sz="1150" b="1" i="0">
                <a:solidFill>
                  <a:srgbClr val="2E8B57"/>
                </a:solidFill>
                <a:latin typeface="Consolas"/>
              </a:rPr>
              <a:t> 7.7%</a:t>
            </a:r>
            <a:r>
              <a:rPr sz="1100" b="0" i="0">
                <a:solidFill>
                  <a:srgbClr val="22262E"/>
                </a:solidFill>
                <a:latin typeface="Consolas"/>
              </a:rPr>
              <a:t>        </a:t>
            </a:r>
            <a:r>
              <a:rPr sz="1150" b="1" i="0">
                <a:solidFill>
                  <a:srgbClr val="B23A2F"/>
                </a:solidFill>
                <a:latin typeface="Consolas"/>
              </a:rPr>
              <a:t>80.0%</a:t>
            </a:r>
          </a:p>
          <a:p>
            <a:pPr algn="l"/>
            <a:r>
              <a:rPr sz="1100" b="1" i="0">
                <a:solidFill>
                  <a:srgbClr val="22262E"/>
                </a:solidFill>
                <a:latin typeface="Calibri"/>
              </a:rPr>
              <a:t>Latency</a:t>
            </a:r>
            <a:r>
              <a:rPr sz="1100" b="0" i="0">
                <a:solidFill>
                  <a:srgbClr val="22262E"/>
                </a:solidFill>
                <a:latin typeface="Consolas"/>
              </a:rPr>
              <a:t>           </a:t>
            </a:r>
            <a:r>
              <a:rPr sz="1150" b="1" i="0">
                <a:solidFill>
                  <a:srgbClr val="2E8B57"/>
                </a:solidFill>
                <a:latin typeface="Consolas"/>
              </a:rPr>
              <a:t> &lt; 1 s</a:t>
            </a:r>
            <a:r>
              <a:rPr sz="1100" b="0" i="0">
                <a:solidFill>
                  <a:srgbClr val="22262E"/>
                </a:solidFill>
                <a:latin typeface="Consolas"/>
              </a:rPr>
              <a:t>        </a:t>
            </a:r>
            <a:r>
              <a:rPr sz="1150" b="1" i="0">
                <a:solidFill>
                  <a:srgbClr val="B23A2F"/>
                </a:solidFill>
                <a:latin typeface="Consolas"/>
              </a:rPr>
              <a:t>~ 9 min</a:t>
            </a:r>
          </a:p>
          <a:p>
            <a:pPr algn="l"/>
            <a:r>
              <a:rPr sz="6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100" b="1" i="0">
                <a:solidFill>
                  <a:srgbClr val="2E8B57"/>
                </a:solidFill>
                <a:latin typeface="Calibri"/>
              </a:rPr>
              <a:t>Every verdict carries:</a:t>
            </a:r>
          </a:p>
          <a:p>
            <a:pPr algn="l"/>
            <a:r>
              <a:rPr sz="1050" b="0" i="0">
                <a:solidFill>
                  <a:srgbClr val="3E4450"/>
                </a:solidFill>
                <a:latin typeface="Calibri"/>
              </a:rPr>
              <a:t>  ·  binary outcome   (accept / reject)</a:t>
            </a:r>
          </a:p>
          <a:p>
            <a:pPr algn="l"/>
            <a:r>
              <a:rPr sz="1050" b="0" i="0">
                <a:solidFill>
                  <a:srgbClr val="3E4450"/>
                </a:solidFill>
                <a:latin typeface="Calibri"/>
              </a:rPr>
              <a:t>  ·  continuous scalar  (for drift / margin)</a:t>
            </a:r>
          </a:p>
          <a:p>
            <a:pPr algn="l"/>
            <a:r>
              <a:rPr sz="1050" b="0" i="0">
                <a:solidFill>
                  <a:srgbClr val="3E4450"/>
                </a:solidFill>
                <a:latin typeface="Calibri"/>
              </a:rPr>
              <a:t>  ·  one-line audit detail  (primitive · score · threshold)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1059" y="4672584"/>
            <a:ext cx="3154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100" b="1" i="1">
                <a:solidFill>
                  <a:srgbClr val="2E8B57"/>
                </a:solidFill>
                <a:latin typeface="Calibri"/>
              </a:rPr>
              <a:t>deterministic  ·  auditable  ·  fast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212080"/>
            <a:ext cx="1133856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3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276088"/>
            <a:ext cx="246888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142B4D"/>
                </a:solidFill>
                <a:latin typeface="Calibri"/>
              </a:rPr>
              <a:t>Example decision detail: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276088"/>
            <a:ext cx="8686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22262E"/>
                </a:solidFill>
                <a:latin typeface="Consolas"/>
              </a:rPr>
              <a:t>[distance] plausibility   d = 1.056,  τ = 1.388,  P(real) = 0.99   →   </a:t>
            </a:r>
            <a:r>
              <a:rPr sz="1100" b="1" i="0">
                <a:solidFill>
                  <a:srgbClr val="2E8B57"/>
                </a:solidFill>
                <a:latin typeface="Consolas"/>
              </a:rPr>
              <a:t>ACCEPT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870448"/>
            <a:ext cx="11338560" cy="868680"/>
          </a:xfrm>
          <a:prstGeom prst="round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961888"/>
            <a:ext cx="10881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 LLM judgment enters scoring.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Same seed  →  same verdicts.  Same verdicts  →  meaningful regression testing.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309360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Each verdict is a calibrated scalar against a store-fit threshold  —  </a:t>
            </a:r>
            <a:r>
              <a:rPr sz="1100" b="0" i="1">
                <a:solidFill>
                  <a:srgbClr val="FFFFFF"/>
                </a:solidFill>
                <a:latin typeface="Calibri"/>
              </a:rPr>
              <a:t>a reviewer can reconstruct any decision from the one-line detail, without re-running the judge.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