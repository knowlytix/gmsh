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Behavioral Testing</a:t>
            </a:r>
            <a:r>
              <a:rPr sz="1700" b="0" i="0">
                <a:solidFill>
                  <a:srgbClr val="6C7280"/>
                </a:solidFill>
                <a:latin typeface="Calibri"/>
              </a:rPr>
              <a:t>   —   hallucination, calibration, multi-turn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Essay 7  ·  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338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50" b="1" i="0">
                <a:solidFill>
                  <a:srgbClr val="22262E"/>
                </a:solidFill>
                <a:latin typeface="Calibri"/>
              </a:rPr>
              <a:t>Some failure modes need their own probes.  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Three specialised protocols, all reading the </a:t>
            </a:r>
            <a:r>
              <a:rPr sz="1350" b="1" i="1">
                <a:solidFill>
                  <a:srgbClr val="1F6FB5"/>
                </a:solidFill>
                <a:latin typeface="Calibri"/>
              </a:rPr>
              <a:t>same calibrated manifold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39" y="1627632"/>
            <a:ext cx="3520440" cy="3429000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39" y="1627632"/>
            <a:ext cx="3520440" cy="411480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39" y="1929384"/>
            <a:ext cx="352044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9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Hallucination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is the claim grounded?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E4450"/>
                </a:solidFill>
                <a:latin typeface="Calibri"/>
              </a:rPr>
              <a:t>Score each claim's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geodesic distance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 to the trained store.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Four </a:t>
            </a:r>
            <a:r>
              <a:rPr sz="1100" b="1" i="0">
                <a:solidFill>
                  <a:srgbClr val="B23A2F"/>
                </a:solidFill>
                <a:latin typeface="Calibri"/>
              </a:rPr>
              <a:t>presentation bands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, anchored on the calibrated </a:t>
            </a:r>
            <a:r>
              <a:rPr sz="1100" b="0" i="1">
                <a:solidFill>
                  <a:srgbClr val="22262E"/>
                </a:solidFill>
                <a:latin typeface="Consolas"/>
              </a:rPr>
              <a:t>τ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  (not a hand-set cut):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E8B57"/>
                </a:solidFill>
                <a:latin typeface="Calibri"/>
              </a:rPr>
              <a:t>grounded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            d ≤ τ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embellishment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mild drift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distortion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  meaningful error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B23A2F"/>
                </a:solidFill>
                <a:latin typeface="Calibri"/>
              </a:rPr>
              <a:t>fabrication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at the OOV ceiling (2.0)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Adversarial probes: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boundary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near-miss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elaboration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 i="1">
                <a:solidFill>
                  <a:srgbClr val="B23A2F"/>
                </a:solidFill>
                <a:latin typeface="Calibri"/>
              </a:rPr>
              <a:t>one failure code  ·  HALLUCINATION_DETECTED  ·  CRITICAL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0499" y="3154680"/>
            <a:ext cx="320040" cy="365760"/>
          </a:xfrm>
          <a:prstGeom prst="right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6259" y="1627632"/>
            <a:ext cx="3520440" cy="3429000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59" y="1627632"/>
            <a:ext cx="352044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6259" y="1929384"/>
            <a:ext cx="352044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341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Calibration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is confidence honest?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485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373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E4450"/>
                </a:solidFill>
                <a:latin typeface="Calibri"/>
              </a:rPr>
              <a:t>A promise: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90% confident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 should be right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90% of the time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F6FB5"/>
                </a:solidFill>
                <a:latin typeface="Calibri"/>
              </a:rPr>
              <a:t>Angular encoding on the unit circle: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     </a:t>
            </a:r>
            <a:r>
              <a:rPr sz="1100" b="1" i="0">
                <a:solidFill>
                  <a:srgbClr val="22262E"/>
                </a:solidFill>
                <a:latin typeface="Consolas"/>
              </a:rPr>
              <a:t>θ_c = c · π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confidence → angle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     </a:t>
            </a:r>
            <a:r>
              <a:rPr sz="1100" b="1" i="0">
                <a:solidFill>
                  <a:srgbClr val="22262E"/>
                </a:solidFill>
                <a:latin typeface="Consolas"/>
              </a:rPr>
              <a:t>θ_a = 0 or π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wrong / right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     </a:t>
            </a:r>
            <a:r>
              <a:rPr sz="1100" b="1" i="0">
                <a:solidFill>
                  <a:srgbClr val="22262E"/>
                </a:solidFill>
                <a:latin typeface="Consolas"/>
              </a:rPr>
              <a:t>gap = |θ_c − θ_a| / π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Symmetric penalty — </a:t>
            </a:r>
            <a:r>
              <a:rPr sz="1050" b="1" i="0">
                <a:solidFill>
                  <a:srgbClr val="B23A2F"/>
                </a:solidFill>
                <a:latin typeface="Calibri"/>
              </a:rPr>
              <a:t>overconfident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and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underconfident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both score high.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Release-gate metrics:  </a:t>
            </a:r>
            <a:r>
              <a:rPr sz="1100" b="1" i="0">
                <a:solidFill>
                  <a:srgbClr val="1F6FB5"/>
                </a:solidFill>
                <a:latin typeface="Consolas"/>
              </a:rPr>
              <a:t>ECE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(mean gap)  ·  </a:t>
            </a:r>
            <a:r>
              <a:rPr sz="1100" b="1" i="0">
                <a:solidFill>
                  <a:srgbClr val="1F6FB5"/>
                </a:solidFill>
                <a:latin typeface="Consolas"/>
              </a:rPr>
              <a:t>MCE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(worst bin)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3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 i="1">
                <a:solidFill>
                  <a:srgbClr val="1F6FB5"/>
                </a:solidFill>
                <a:latin typeface="Calibri"/>
              </a:rPr>
              <a:t>reliability diagram  +  overconfidence ratio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2419" y="3154680"/>
            <a:ext cx="32004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1627632"/>
            <a:ext cx="3520440" cy="3429000"/>
          </a:xfrm>
          <a:prstGeom prst="roundRect">
            <a:avLst/>
          </a:prstGeom>
          <a:solidFill>
            <a:srgbClr val="E7F4EC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8179" y="1627632"/>
            <a:ext cx="35204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8179" y="1929384"/>
            <a:ext cx="352044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533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Multi-turn memory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does the agent remember?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677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565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Single-turn tests cannot see </a:t>
            </a:r>
            <a:r>
              <a:rPr sz="1100" b="1" i="1">
                <a:solidFill>
                  <a:srgbClr val="22262E"/>
                </a:solidFill>
                <a:latin typeface="Calibri"/>
              </a:rPr>
              <a:t>forgetting, drift, leakage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The </a:t>
            </a:r>
            <a:r>
              <a:rPr sz="1100" b="1" i="0">
                <a:solidFill>
                  <a:srgbClr val="2E8B57"/>
                </a:solidFill>
                <a:latin typeface="Calibri"/>
              </a:rPr>
              <a:t>teach–delay–recall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 probe: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</a:t>
            </a:r>
            <a:r>
              <a:rPr sz="1050" b="1" i="0">
                <a:solidFill>
                  <a:srgbClr val="2E8B57"/>
                </a:solidFill>
                <a:latin typeface="Consolas"/>
              </a:rPr>
              <a:t>teach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   plant a fact into the session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</a:t>
            </a:r>
            <a:r>
              <a:rPr sz="1050" b="1" i="0">
                <a:solidFill>
                  <a:srgbClr val="2E8B57"/>
                </a:solidFill>
                <a:latin typeface="Consolas"/>
              </a:rPr>
              <a:t>delay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           </a:t>
            </a:r>
            <a:r>
              <a:rPr sz="1050" b="0" i="1">
                <a:solidFill>
                  <a:srgbClr val="22262E"/>
                </a:solidFill>
                <a:latin typeface="Consolas"/>
              </a:rPr>
              <a:t>n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distractor turns in between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</a:t>
            </a:r>
            <a:r>
              <a:rPr sz="1050" b="1" i="0">
                <a:solidFill>
                  <a:srgbClr val="2E8B57"/>
                </a:solidFill>
                <a:latin typeface="Consolas"/>
              </a:rPr>
              <a:t>recall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 ask for it back, score the recall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MemoryRecallOracle scores on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two signals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recall geodesic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vs. expected triple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session tension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cross-turn consistency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Degradation flag fires on </a:t>
            </a:r>
            <a:r>
              <a:rPr sz="1050" b="1" i="0">
                <a:solidFill>
                  <a:srgbClr val="2E8B57"/>
                </a:solidFill>
                <a:latin typeface="Calibri"/>
              </a:rPr>
              <a:t>&gt;20% tension rise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across the run.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5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 i="1">
                <a:solidFill>
                  <a:srgbClr val="2E8B57"/>
                </a:solidFill>
                <a:latin typeface="Calibri"/>
              </a:rPr>
              <a:t>interaction scripts + per-turn assertions on top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3385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76088"/>
            <a:ext cx="25603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142B4D"/>
                </a:solidFill>
                <a:latin typeface="Calibri"/>
              </a:rPr>
              <a:t>Concrete numbers: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276088"/>
            <a:ext cx="8686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Ch 16  τ = 1.385, ceiling 2.0   ·  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App G  ECE 0.34, MCE 0.54, overconf 78%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   ·  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Ch 17  recall 8/20 at delay = 5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     </a:t>
            </a:r>
            <a:r>
              <a:rPr sz="1000" b="0" i="1">
                <a:solidFill>
                  <a:srgbClr val="6C7280"/>
                </a:solidFill>
                <a:latin typeface="Consolas"/>
              </a:rPr>
              <a:t>(all thresholds calibrated, not hand-set)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70448"/>
            <a:ext cx="11338560" cy="86868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6188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 probes, one manifold, one calibration file.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Each protocol reuses the same geometry that verified the facts.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Hallucination bands are just distances.  Calibration gaps are just angles.  Memory recall is just geodesic plus tension.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The specialised behaviour is specialised.  The measurement is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