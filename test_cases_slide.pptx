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142B4D"/>
                </a:solidFill>
                <a:latin typeface="Calibri"/>
              </a:rPr>
              <a:t>Generating Test Cases</a:t>
            </a:r>
            <a:r>
              <a:rPr sz="1700" b="0" i="0">
                <a:solidFill>
                  <a:srgbClr val="6C7280"/>
                </a:solidFill>
                <a:latin typeface="Calibri"/>
              </a:rPr>
              <a:t>   —   systematic coverage through design of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C7280"/>
                </a:solidFill>
                <a:latin typeface="Calibri"/>
              </a:rPr>
              <a:t>Essay 3  ·  Agus Sudjianto  &amp;  Aldo Lau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338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22262E"/>
                </a:solidFill>
                <a:latin typeface="Calibri"/>
              </a:rPr>
              <a:t>807 facts to test.  40 presentation factors.  </a:t>
            </a:r>
            <a:r>
              <a:rPr sz="1400" b="0" i="0">
                <a:solidFill>
                  <a:srgbClr val="3E4450"/>
                </a:solidFill>
                <a:latin typeface="Calibri"/>
              </a:rPr>
              <a:t>The combinations run past 12 quintillion — so we don't sample randomly, we </a:t>
            </a:r>
            <a:r>
              <a:rPr sz="1400" b="1" i="1">
                <a:solidFill>
                  <a:srgbClr val="C9562D"/>
                </a:solidFill>
                <a:latin typeface="Calibri"/>
              </a:rPr>
              <a:t>design the experiment</a:t>
            </a:r>
            <a:r>
              <a:rPr sz="1400" b="0" i="0">
                <a:solidFill>
                  <a:srgbClr val="3E4450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39" y="1645920"/>
            <a:ext cx="3520440" cy="3063240"/>
          </a:xfrm>
          <a:prstGeom prst="roundRect">
            <a:avLst/>
          </a:prstGeom>
          <a:solidFill>
            <a:srgbClr val="E6F0FA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39" y="1645920"/>
            <a:ext cx="352044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39" y="1947672"/>
            <a:ext cx="352044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499" y="1682496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Generate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from the ground truth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39" y="2240280"/>
            <a:ext cx="306324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99" y="2377440"/>
            <a:ext cx="278892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1" i="0">
                <a:solidFill>
                  <a:srgbClr val="22262E"/>
                </a:solidFill>
                <a:latin typeface="Calibri"/>
              </a:rPr>
              <a:t>Thirteen question generators.</a:t>
            </a:r>
          </a:p>
          <a:p>
            <a:pPr algn="l"/>
            <a:r>
              <a:rPr sz="1150" b="0" i="1">
                <a:solidFill>
                  <a:srgbClr val="3E4450"/>
                </a:solidFill>
                <a:latin typeface="Calibri"/>
              </a:rPr>
              <a:t>Each maps to one failure mode.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50" b="1" i="0">
                <a:solidFill>
                  <a:srgbClr val="1F6FB5"/>
                </a:solidFill>
                <a:latin typeface="Calibri"/>
              </a:rPr>
              <a:t>·  8 cognitive  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— probe reasoning over the graph</a:t>
            </a:r>
          </a:p>
          <a:p>
            <a:pPr algn="l"/>
            <a:r>
              <a:rPr sz="1150" b="1" i="0">
                <a:solidFill>
                  <a:srgbClr val="1F6FB5"/>
                </a:solidFill>
                <a:latin typeface="Calibri"/>
              </a:rPr>
              <a:t>·  5 stress  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— probe behavior under pressure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Every answer is verified by </a:t>
            </a:r>
            <a:r>
              <a:rPr sz="1100" b="1" i="0">
                <a:solidFill>
                  <a:srgbClr val="22262E"/>
                </a:solidFill>
                <a:latin typeface="Calibri"/>
              </a:rPr>
              <a:t>the store itself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  —  no LLM judgment in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19" y="4325112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50" b="1" i="1">
                <a:solidFill>
                  <a:srgbClr val="1F6FB5"/>
                </a:solidFill>
                <a:latin typeface="Calibri"/>
              </a:rPr>
              <a:t>~130 balanced base questions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00499" y="2971800"/>
            <a:ext cx="320040" cy="365760"/>
          </a:xfrm>
          <a:prstGeom prst="rightArrow">
            <a:avLst/>
          </a:prstGeom>
          <a:solidFill>
            <a:srgbClr val="C9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6259" y="1645920"/>
            <a:ext cx="3520440" cy="3063240"/>
          </a:xfrm>
          <a:prstGeom prst="roundRect">
            <a:avLst/>
          </a:prstGeom>
          <a:solidFill>
            <a:srgbClr val="FBEBDD"/>
          </a:solidFill>
          <a:ln w="9525">
            <a:solidFill>
              <a:srgbClr val="C95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6259" y="1645920"/>
            <a:ext cx="3520440" cy="411480"/>
          </a:xfrm>
          <a:prstGeom prst="roundRect">
            <a:avLst/>
          </a:prstGeom>
          <a:solidFill>
            <a:srgbClr val="C9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6259" y="1947672"/>
            <a:ext cx="3520440" cy="109728"/>
          </a:xfrm>
          <a:prstGeom prst="rect">
            <a:avLst/>
          </a:prstGeom>
          <a:solidFill>
            <a:srgbClr val="C95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3419" y="1682496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Design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space-filling DoE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4859" y="2240280"/>
            <a:ext cx="306324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2019" y="2377440"/>
            <a:ext cx="278892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1" i="0">
                <a:solidFill>
                  <a:srgbClr val="22262E"/>
                </a:solidFill>
                <a:latin typeface="Calibri"/>
              </a:rPr>
              <a:t>Each base question × design matrix.</a:t>
            </a:r>
          </a:p>
          <a:p>
            <a:pPr algn="l"/>
            <a:r>
              <a:rPr sz="1150" b="0" i="1">
                <a:solidFill>
                  <a:srgbClr val="3E4450"/>
                </a:solidFill>
                <a:latin typeface="Calibri"/>
              </a:rPr>
              <a:t>Vary the </a:t>
            </a:r>
            <a:r>
              <a:rPr sz="1150" b="1" i="1">
                <a:solidFill>
                  <a:srgbClr val="22262E"/>
                </a:solidFill>
                <a:latin typeface="Calibri"/>
              </a:rPr>
              <a:t>presentation</a:t>
            </a:r>
            <a:r>
              <a:rPr sz="1150" b="0" i="1">
                <a:solidFill>
                  <a:srgbClr val="3E4450"/>
                </a:solidFill>
                <a:latin typeface="Calibri"/>
              </a:rPr>
              <a:t>, not the content.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·  Sobol: every factor level sampled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·  Ground truth preserved per row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·  Seed-pinned and reproducible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C9562D"/>
                </a:solidFill>
                <a:latin typeface="Calibri"/>
              </a:rPr>
              <a:t>Factors: </a:t>
            </a:r>
            <a:r>
              <a:rPr sz="1100" b="0" i="1">
                <a:solidFill>
                  <a:srgbClr val="3E4450"/>
                </a:solidFill>
                <a:latin typeface="Calibri"/>
              </a:rPr>
              <a:t>clarity, aliasing, cue, noise, context, conflict, tool,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9139" y="4325112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50" b="1" i="1">
                <a:solidFill>
                  <a:srgbClr val="C9562D"/>
                </a:solidFill>
                <a:latin typeface="Calibri"/>
              </a:rPr>
              <a:t>130  →  520 test cases  (4× expansion)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32419" y="2971800"/>
            <a:ext cx="320040" cy="365760"/>
          </a:xfrm>
          <a:prstGeom prst="rightArrow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8179" y="1645920"/>
            <a:ext cx="3520440" cy="3063240"/>
          </a:xfrm>
          <a:prstGeom prst="roundRect">
            <a:avLst/>
          </a:prstGeom>
          <a:solidFill>
            <a:srgbClr val="E7F4EC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98179" y="1645920"/>
            <a:ext cx="352044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98179" y="1947672"/>
            <a:ext cx="3520440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5339" y="1682496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Attribute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logistic regression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6779" y="2240280"/>
            <a:ext cx="306324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3939" y="2377440"/>
            <a:ext cx="278892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50" b="1" i="0">
                <a:solidFill>
                  <a:srgbClr val="22262E"/>
                </a:solidFill>
                <a:latin typeface="Calibri"/>
              </a:rPr>
              <a:t>Binary outcomes.  Factor-level attribution.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·  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which factor level hurt accuracy?</a:t>
            </a:r>
          </a:p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·  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by how much?  odds ratios · Wilson CIs</a:t>
            </a:r>
          </a:p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·  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where do factors compound?  interactions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Not </a:t>
            </a:r>
            <a:r>
              <a:rPr sz="1100" b="1" i="1">
                <a:solidFill>
                  <a:srgbClr val="6C7280"/>
                </a:solidFill>
                <a:latin typeface="Consolas"/>
              </a:rPr>
              <a:t>"64% correct"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.  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Instead: </a:t>
            </a:r>
            <a:r>
              <a:rPr sz="1100" b="1" i="0">
                <a:solidFill>
                  <a:srgbClr val="2E8B57"/>
                </a:solidFill>
                <a:latin typeface="Calibri"/>
              </a:rPr>
              <a:t>"Misleading wording cuts odds to 0.68×"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059" y="4325112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50" b="1" i="1">
                <a:solidFill>
                  <a:srgbClr val="2E8B57"/>
                </a:solidFill>
                <a:latin typeface="Calibri"/>
              </a:rPr>
              <a:t>actionable  —  per-factor, with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46320"/>
            <a:ext cx="11338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142B4D"/>
                </a:solidFill>
                <a:latin typeface="Calibri"/>
              </a:rPr>
              <a:t>Thirteen generators:</a:t>
            </a:r>
            <a:r>
              <a:rPr sz="1150" b="0" i="1">
                <a:solidFill>
                  <a:srgbClr val="6C7280"/>
                </a:solidFill>
                <a:latin typeface="Calibri"/>
              </a:rPr>
              <a:t>  8 cognitive  +  5 stress  —  one per targeted failure mode.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66360"/>
            <a:ext cx="1337310" cy="256032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66360"/>
            <a:ext cx="133731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1F6FB5"/>
                </a:solidFill>
                <a:latin typeface="Calibri"/>
              </a:rPr>
              <a:t>plausibility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85950" y="5166360"/>
            <a:ext cx="1337310" cy="256032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5950" y="5166360"/>
            <a:ext cx="133731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1F6FB5"/>
                </a:solidFill>
                <a:latin typeface="Calibri"/>
              </a:rPr>
              <a:t>contradiction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14700" y="5166360"/>
            <a:ext cx="1337310" cy="256032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4700" y="5166360"/>
            <a:ext cx="133731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1F6FB5"/>
                </a:solidFill>
                <a:latin typeface="Calibri"/>
              </a:rPr>
              <a:t>path check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3450" y="5166360"/>
            <a:ext cx="1337310" cy="256032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3450" y="5166360"/>
            <a:ext cx="133731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1F6FB5"/>
                </a:solidFill>
                <a:latin typeface="Calibri"/>
              </a:rPr>
              <a:t>exact recall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5166360"/>
            <a:ext cx="1337310" cy="256032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5166360"/>
            <a:ext cx="133731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1F6FB5"/>
                </a:solidFill>
                <a:latin typeface="Calibri"/>
              </a:rPr>
              <a:t>link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00950" y="5166360"/>
            <a:ext cx="1337310" cy="256032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00950" y="5166360"/>
            <a:ext cx="133731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1F6FB5"/>
                </a:solidFill>
                <a:latin typeface="Calibri"/>
              </a:rPr>
              <a:t>multi-hop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700" y="5166360"/>
            <a:ext cx="1337310" cy="256032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29700" y="5166360"/>
            <a:ext cx="133731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1F6FB5"/>
                </a:solidFill>
                <a:latin typeface="Calibri"/>
              </a:rPr>
              <a:t>conditional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58450" y="5166360"/>
            <a:ext cx="1337310" cy="256032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58450" y="5166360"/>
            <a:ext cx="133731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1F6FB5"/>
                </a:solidFill>
                <a:latin typeface="Calibri"/>
              </a:rPr>
              <a:t>procedural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532120"/>
            <a:ext cx="2194560" cy="256032"/>
          </a:xfrm>
          <a:prstGeom prst="roundRect">
            <a:avLst/>
          </a:prstGeom>
          <a:solidFill>
            <a:srgbClr val="FB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532120"/>
            <a:ext cx="21945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C9562D"/>
                </a:solidFill>
                <a:latin typeface="Calibri"/>
              </a:rPr>
              <a:t>boundary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5532120"/>
            <a:ext cx="2194560" cy="256032"/>
          </a:xfrm>
          <a:prstGeom prst="roundRect">
            <a:avLst/>
          </a:prstGeom>
          <a:solidFill>
            <a:srgbClr val="FB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5532120"/>
            <a:ext cx="21945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C9562D"/>
                </a:solidFill>
                <a:latin typeface="Calibri"/>
              </a:rPr>
              <a:t>adversarial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5532120"/>
            <a:ext cx="2194560" cy="256032"/>
          </a:xfrm>
          <a:prstGeom prst="roundRect">
            <a:avLst/>
          </a:prstGeom>
          <a:solidFill>
            <a:srgbClr val="FB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0" y="5532120"/>
            <a:ext cx="21945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C9562D"/>
                </a:solidFill>
                <a:latin typeface="Calibri"/>
              </a:rPr>
              <a:t>noise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0" y="5532120"/>
            <a:ext cx="2194560" cy="256032"/>
          </a:xfrm>
          <a:prstGeom prst="roundRect">
            <a:avLst/>
          </a:prstGeom>
          <a:solidFill>
            <a:srgbClr val="FB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532120"/>
            <a:ext cx="21945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C9562D"/>
                </a:solidFill>
                <a:latin typeface="Calibri"/>
              </a:rPr>
              <a:t>tool failure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01200" y="5532120"/>
            <a:ext cx="2194560" cy="256032"/>
          </a:xfrm>
          <a:prstGeom prst="roundRect">
            <a:avLst/>
          </a:prstGeom>
          <a:solidFill>
            <a:srgbClr val="FB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5532120"/>
            <a:ext cx="21945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C9562D"/>
                </a:solidFill>
                <a:latin typeface="Calibri"/>
              </a:rPr>
              <a:t>policy trap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6126480"/>
            <a:ext cx="11338560" cy="594360"/>
          </a:xfrm>
          <a:prstGeom prst="round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Deterministic pipeline.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Same seed, same 520 test cases, same verdicts every run  —  regression testing becomes a diff, not a re-experiment.</a:t>
            </a:r>
          </a:p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Finding on the running example: </a:t>
            </a:r>
            <a:r>
              <a:rPr sz="1050" b="0" i="1">
                <a:solidFill>
                  <a:srgbClr val="FFFFFF"/>
                </a:solidFill>
                <a:latin typeface="Calibri"/>
              </a:rPr>
              <a:t>Misleading wording fails 47.2% vs 22.1% for Clear (non-overlapping 95% CIs)  —  hardening target, identified.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