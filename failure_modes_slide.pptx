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3385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142B4D"/>
                </a:solidFill>
                <a:latin typeface="Calibri"/>
              </a:rPr>
              <a:t>Six Failure Modes of Agentic AI</a:t>
            </a:r>
            <a:r>
              <a:rPr sz="1600" b="0" i="0">
                <a:solidFill>
                  <a:srgbClr val="6C7280"/>
                </a:solidFill>
                <a:latin typeface="Calibri"/>
              </a:rPr>
              <a:t>   —   where traditional validation falls silent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3385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6C7280"/>
                </a:solidFill>
                <a:latin typeface="Calibri"/>
              </a:rPr>
              <a:t>Agus Sudjianto  &amp;  Aldo Lau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13385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3E4450"/>
                </a:solidFill>
                <a:latin typeface="Calibri"/>
              </a:rPr>
              <a:t>Traditional validation asks if the </a:t>
            </a:r>
            <a:r>
              <a:rPr sz="1350" b="1" i="1">
                <a:solidFill>
                  <a:srgbClr val="22262E"/>
                </a:solidFill>
                <a:latin typeface="Calibri"/>
              </a:rPr>
              <a:t>answer</a:t>
            </a:r>
            <a:r>
              <a:rPr sz="1300" b="0" i="0">
                <a:solidFill>
                  <a:srgbClr val="3E4450"/>
                </a:solidFill>
                <a:latin typeface="Calibri"/>
              </a:rPr>
              <a:t> is right.  Agentic validation asks if the agent </a:t>
            </a:r>
            <a:r>
              <a:rPr sz="1350" b="1" i="1">
                <a:solidFill>
                  <a:srgbClr val="142B4D"/>
                </a:solidFill>
                <a:latin typeface="Calibri"/>
              </a:rPr>
              <a:t>behaved correctly across its full operational scope</a:t>
            </a:r>
            <a:r>
              <a:rPr sz="1300" b="0" i="0">
                <a:solidFill>
                  <a:srgbClr val="3E4450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99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B23A2F"/>
                </a:solidFill>
                <a:latin typeface="Calibri"/>
              </a:rPr>
              <a:t>REASONING FAILURES</a:t>
            </a:r>
            <a:r>
              <a:rPr sz="1000" b="0" i="1">
                <a:solidFill>
                  <a:srgbClr val="6C7280"/>
                </a:solidFill>
                <a:latin typeface="Calibri"/>
              </a:rPr>
              <a:t>     what the agent concludes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99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1F6FB5"/>
                </a:solidFill>
                <a:latin typeface="Calibri"/>
              </a:rPr>
              <a:t>EXECUTION FAILURES</a:t>
            </a:r>
            <a:r>
              <a:rPr sz="1000" b="0" i="1">
                <a:solidFill>
                  <a:srgbClr val="6C7280"/>
                </a:solidFill>
                <a:latin typeface="Calibri"/>
              </a:rPr>
              <a:t>     what the agent does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5486400" cy="1298448"/>
          </a:xfrm>
          <a:prstGeom prst="roundRect">
            <a:avLst/>
          </a:prstGeom>
          <a:solidFill>
            <a:srgbClr val="FBE9E7"/>
          </a:solidFill>
          <a:ln w="9525">
            <a:solidFill>
              <a:srgbClr val="B2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5486400" cy="384048"/>
          </a:xfrm>
          <a:prstGeom prst="roundRect">
            <a:avLst/>
          </a:prstGeom>
          <a:solidFill>
            <a:srgbClr val="B2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057400"/>
            <a:ext cx="5486400" cy="109728"/>
          </a:xfrm>
          <a:prstGeom prst="rect">
            <a:avLst/>
          </a:prstGeom>
          <a:solidFill>
            <a:srgbClr val="B2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01368"/>
            <a:ext cx="521208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onsolas"/>
              </a:rPr>
              <a:t>FM-1 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Factual Hallucination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240280"/>
            <a:ext cx="5084064" cy="7955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Asserts facts absent from the source — or contradicts it.</a:t>
            </a:r>
          </a:p>
          <a:p>
            <a:pPr algn="l"/>
            <a:r>
              <a:rPr sz="3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000" b="1" i="1">
                <a:solidFill>
                  <a:srgbClr val="6C7280"/>
                </a:solidFill>
                <a:latin typeface="Calibri"/>
              </a:rPr>
              <a:t>e.g.  </a:t>
            </a:r>
            <a:r>
              <a:rPr sz="1000" b="0" i="1">
                <a:solidFill>
                  <a:srgbClr val="6C7280"/>
                </a:solidFill>
                <a:latin typeface="Calibri"/>
              </a:rPr>
              <a:t>Returns training AUC 0.8934 when asked for test AUC 0.8412.</a:t>
            </a:r>
          </a:p>
          <a:p>
            <a:pPr algn="l"/>
            <a:r>
              <a:rPr sz="3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000" b="1" i="0">
                <a:solidFill>
                  <a:srgbClr val="B23A2F"/>
                </a:solidFill>
                <a:latin typeface="Calibri"/>
              </a:rPr>
              <a:t>Detect:  </a:t>
            </a:r>
            <a:r>
              <a:rPr sz="1000" b="0" i="0">
                <a:solidFill>
                  <a:srgbClr val="22262E"/>
                </a:solidFill>
                <a:latin typeface="Consolas"/>
              </a:rPr>
              <a:t>score_triple   →   geodesic d &gt; 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191256"/>
            <a:ext cx="5486400" cy="1298448"/>
          </a:xfrm>
          <a:prstGeom prst="roundRect">
            <a:avLst/>
          </a:prstGeom>
          <a:solidFill>
            <a:srgbClr val="FBE9E7"/>
          </a:solidFill>
          <a:ln w="9525">
            <a:solidFill>
              <a:srgbClr val="B2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3191256"/>
            <a:ext cx="5486400" cy="384048"/>
          </a:xfrm>
          <a:prstGeom prst="roundRect">
            <a:avLst/>
          </a:prstGeom>
          <a:solidFill>
            <a:srgbClr val="B2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465576"/>
            <a:ext cx="5486400" cy="109728"/>
          </a:xfrm>
          <a:prstGeom prst="rect">
            <a:avLst/>
          </a:prstGeom>
          <a:solidFill>
            <a:srgbClr val="B2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09544"/>
            <a:ext cx="521208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onsolas"/>
              </a:rPr>
              <a:t>FM-4 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Inconsistent Multi-Hop Reasoning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3648456"/>
            <a:ext cx="5084064" cy="7955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Fails to chain across tables, documents, or reasoning steps.</a:t>
            </a:r>
          </a:p>
          <a:p>
            <a:pPr algn="l"/>
            <a:r>
              <a:rPr sz="3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000" b="1" i="1">
                <a:solidFill>
                  <a:srgbClr val="6C7280"/>
                </a:solidFill>
                <a:latin typeface="Calibri"/>
              </a:rPr>
              <a:t>e.g.  </a:t>
            </a:r>
            <a:r>
              <a:rPr sz="1000" b="0" i="1">
                <a:solidFill>
                  <a:srgbClr val="6C7280"/>
                </a:solidFill>
                <a:latin typeface="Calibri"/>
              </a:rPr>
              <a:t>Returns raw row for MDL-009 instead of tracing the dependency chain.</a:t>
            </a:r>
          </a:p>
          <a:p>
            <a:pPr algn="l"/>
            <a:r>
              <a:rPr sz="3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000" b="1" i="0">
                <a:solidFill>
                  <a:srgbClr val="B23A2F"/>
                </a:solidFill>
                <a:latin typeface="Calibri"/>
              </a:rPr>
              <a:t>Detect:  </a:t>
            </a:r>
            <a:r>
              <a:rPr sz="1000" b="0" i="0">
                <a:solidFill>
                  <a:srgbClr val="22262E"/>
                </a:solidFill>
                <a:latin typeface="Consolas"/>
              </a:rPr>
              <a:t>check_holonomy   →   path vs. direct &gt; 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599432"/>
            <a:ext cx="5486400" cy="1298448"/>
          </a:xfrm>
          <a:prstGeom prst="roundRect">
            <a:avLst/>
          </a:prstGeom>
          <a:solidFill>
            <a:srgbClr val="FBE9E7"/>
          </a:solidFill>
          <a:ln w="9525">
            <a:solidFill>
              <a:srgbClr val="B2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4599432"/>
            <a:ext cx="5486400" cy="384048"/>
          </a:xfrm>
          <a:prstGeom prst="roundRect">
            <a:avLst/>
          </a:prstGeom>
          <a:solidFill>
            <a:srgbClr val="B2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873752"/>
            <a:ext cx="5486400" cy="109728"/>
          </a:xfrm>
          <a:prstGeom prst="rect">
            <a:avLst/>
          </a:prstGeom>
          <a:solidFill>
            <a:srgbClr val="B2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617720"/>
            <a:ext cx="521208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onsolas"/>
              </a:rPr>
              <a:t>FM-5 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Confidence Miscalibration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5056632"/>
            <a:ext cx="5084064" cy="7955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Confidence disconnected from actual accuracy — wrong answers bypass scrutiny.</a:t>
            </a:r>
          </a:p>
          <a:p>
            <a:pPr algn="l"/>
            <a:r>
              <a:rPr sz="3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000" b="1" i="1">
                <a:solidFill>
                  <a:srgbClr val="6C7280"/>
                </a:solidFill>
                <a:latin typeface="Calibri"/>
              </a:rPr>
              <a:t>e.g.  </a:t>
            </a:r>
            <a:r>
              <a:rPr sz="1000" b="0" i="1">
                <a:solidFill>
                  <a:srgbClr val="6C7280"/>
                </a:solidFill>
                <a:latin typeface="Calibri"/>
              </a:rPr>
              <a:t>Reports 8/10 confidence uniformly, regardless of correctness.</a:t>
            </a:r>
          </a:p>
          <a:p>
            <a:pPr algn="l"/>
            <a:r>
              <a:rPr sz="3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000" b="1" i="0">
                <a:solidFill>
                  <a:srgbClr val="B23A2F"/>
                </a:solidFill>
                <a:latin typeface="Calibri"/>
              </a:rPr>
              <a:t>Detect:  </a:t>
            </a:r>
            <a:r>
              <a:rPr sz="1000" b="0" i="0">
                <a:solidFill>
                  <a:srgbClr val="22262E"/>
                </a:solidFill>
                <a:latin typeface="Consolas"/>
              </a:rPr>
              <a:t>Exact storage  →  ECE, MCE, reliability diagram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783080"/>
            <a:ext cx="5486400" cy="1298448"/>
          </a:xfrm>
          <a:prstGeom prst="roundRect">
            <a:avLst/>
          </a:prstGeom>
          <a:solidFill>
            <a:srgbClr val="E6F0FA"/>
          </a:solidFill>
          <a:ln w="9525"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09360" y="1783080"/>
            <a:ext cx="5486400" cy="38404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2057400"/>
            <a:ext cx="5486400" cy="109728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801368"/>
            <a:ext cx="521208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onsolas"/>
              </a:rPr>
              <a:t>FM-2 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Tool Misuse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2240280"/>
            <a:ext cx="5084064" cy="7955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Wrong tool, wrong arguments, wrong order.</a:t>
            </a:r>
          </a:p>
          <a:p>
            <a:pPr algn="l"/>
            <a:r>
              <a:rPr sz="3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000" b="1" i="1">
                <a:solidFill>
                  <a:srgbClr val="6C7280"/>
                </a:solidFill>
                <a:latin typeface="Calibri"/>
              </a:rPr>
              <a:t>e.g.  </a:t>
            </a:r>
            <a:r>
              <a:rPr sz="1000" b="0" i="1">
                <a:solidFill>
                  <a:srgbClr val="6C7280"/>
                </a:solidFill>
                <a:latin typeface="Calibri"/>
              </a:rPr>
              <a:t>Calls data_lookup + risk_check on an escalate request — never triggers escalate.</a:t>
            </a:r>
          </a:p>
          <a:p>
            <a:pPr algn="l"/>
            <a:r>
              <a:rPr sz="3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000" b="1" i="0">
                <a:solidFill>
                  <a:srgbClr val="1F6FB5"/>
                </a:solidFill>
                <a:latin typeface="Calibri"/>
              </a:rPr>
              <a:t>Detect:  </a:t>
            </a:r>
            <a:r>
              <a:rPr sz="1000" b="0" i="0">
                <a:solidFill>
                  <a:srgbClr val="22262E"/>
                </a:solidFill>
                <a:latin typeface="Consolas"/>
              </a:rPr>
              <a:t>query_triples   →   wrong relation in trace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3191256"/>
            <a:ext cx="5486400" cy="1298448"/>
          </a:xfrm>
          <a:prstGeom prst="roundRect">
            <a:avLst/>
          </a:prstGeom>
          <a:solidFill>
            <a:srgbClr val="E6F0FA"/>
          </a:solidFill>
          <a:ln w="9525"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09360" y="3191256"/>
            <a:ext cx="5486400" cy="38404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465576"/>
            <a:ext cx="5486400" cy="109728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209544"/>
            <a:ext cx="521208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onsolas"/>
              </a:rPr>
              <a:t>FM-3 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Policy Violation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3648456"/>
            <a:ext cx="5084064" cy="7955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Skips required approval or performs a forbidden action.  Infrastructure-healthy, governance-broken.</a:t>
            </a:r>
          </a:p>
          <a:p>
            <a:pPr algn="l"/>
            <a:r>
              <a:rPr sz="3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000" b="1" i="1">
                <a:solidFill>
                  <a:srgbClr val="6C7280"/>
                </a:solidFill>
                <a:latin typeface="Calibri"/>
              </a:rPr>
              <a:t>e.g.  </a:t>
            </a:r>
            <a:r>
              <a:rPr sz="1000" b="0" i="1">
                <a:solidFill>
                  <a:srgbClr val="6C7280"/>
                </a:solidFill>
                <a:latin typeface="Calibri"/>
              </a:rPr>
              <a:t>Automatic escalation without supervisor review.</a:t>
            </a:r>
          </a:p>
          <a:p>
            <a:pPr algn="l"/>
            <a:r>
              <a:rPr sz="3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000" b="1" i="0">
                <a:solidFill>
                  <a:srgbClr val="1F6FB5"/>
                </a:solidFill>
                <a:latin typeface="Calibri"/>
              </a:rPr>
              <a:t>Detect:  </a:t>
            </a:r>
            <a:r>
              <a:rPr sz="1000" b="0" i="0">
                <a:solidFill>
                  <a:srgbClr val="22262E"/>
                </a:solidFill>
                <a:latin typeface="Consolas"/>
              </a:rPr>
              <a:t>query_triples   →   forbidden action predicate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4599432"/>
            <a:ext cx="5486400" cy="1298448"/>
          </a:xfrm>
          <a:prstGeom prst="roundRect">
            <a:avLst/>
          </a:prstGeom>
          <a:solidFill>
            <a:srgbClr val="E6F0FA"/>
          </a:solidFill>
          <a:ln w="9525"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09360" y="4599432"/>
            <a:ext cx="5486400" cy="38404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4873752"/>
            <a:ext cx="5486400" cy="109728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617720"/>
            <a:ext cx="521208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onsolas"/>
              </a:rPr>
              <a:t>FM-6 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State Corruption Across Turns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0528" y="5056632"/>
            <a:ext cx="5084064" cy="7955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Forgets, confuses, or contradicts earlier turns in a session.</a:t>
            </a:r>
          </a:p>
          <a:p>
            <a:pPr algn="l"/>
            <a:r>
              <a:rPr sz="3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000" b="1" i="1">
                <a:solidFill>
                  <a:srgbClr val="6C7280"/>
                </a:solidFill>
                <a:latin typeface="Calibri"/>
              </a:rPr>
              <a:t>e.g.  </a:t>
            </a:r>
            <a:r>
              <a:rPr sz="1000" b="0" i="1">
                <a:solidFill>
                  <a:srgbClr val="6C7280"/>
                </a:solidFill>
                <a:latin typeface="Calibri"/>
              </a:rPr>
              <a:t>Fact taught at turn 1 → "no relevant memory found" at turn 5.</a:t>
            </a:r>
          </a:p>
          <a:p>
            <a:pPr algn="l"/>
            <a:r>
              <a:rPr sz="3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000" b="1" i="0">
                <a:solidFill>
                  <a:srgbClr val="1F6FB5"/>
                </a:solidFill>
                <a:latin typeface="Calibri"/>
              </a:rPr>
              <a:t>Detect:  </a:t>
            </a:r>
            <a:r>
              <a:rPr sz="1000" b="0" i="0">
                <a:solidFill>
                  <a:srgbClr val="22262E"/>
                </a:solidFill>
                <a:latin typeface="Consolas"/>
              </a:rPr>
              <a:t>lookup_enm + tension   →   teach-delay-recall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870448"/>
            <a:ext cx="11338560" cy="868680"/>
          </a:xfrm>
          <a:prstGeom prst="round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961888"/>
            <a:ext cx="10881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Each mode needs a </a:t>
            </a:r>
            <a:r>
              <a:rPr sz="1200" b="1" i="0">
                <a:solidFill>
                  <a:srgbClr val="FFFFFF"/>
                </a:solidFill>
                <a:latin typeface="Calibri"/>
              </a:rPr>
              <a:t>purpose-built probe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.  Each probe reads the </a:t>
            </a:r>
            <a:r>
              <a:rPr sz="1200" b="1" i="0">
                <a:solidFill>
                  <a:srgbClr val="FFFFFF"/>
                </a:solidFill>
                <a:latin typeface="Calibri"/>
              </a:rPr>
              <a:t>same calibrated manifold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.  Each verdict is auditable back to a source sentence.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6309360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Agentic validation is not an afterthought to model evaluation.  </a:t>
            </a:r>
            <a:r>
              <a:rPr sz="1100" b="0" i="1">
                <a:solidFill>
                  <a:srgbClr val="FFFFFF"/>
                </a:solidFill>
                <a:latin typeface="Calibri"/>
              </a:rPr>
              <a:t>It is a structured, multi-dimensional discipline with one tool per failure mode — six modes, six tools, one geometry.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