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142B4D"/>
                </a:solidFill>
                <a:latin typeface="Calibri"/>
              </a:rPr>
              <a:t>From Verdicts to Release Gates</a:t>
            </a:r>
            <a:r>
              <a:rPr sz="1700" b="0" i="0">
                <a:solidFill>
                  <a:srgbClr val="6C7280"/>
                </a:solidFill>
                <a:latin typeface="Calibri"/>
              </a:rPr>
              <a:t>   —   severity, risk tiers, and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3385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6C7280"/>
                </a:solidFill>
                <a:latin typeface="Calibri"/>
              </a:rPr>
              <a:t>Essay 5  ·  Agus Sudjianto  &amp;  Aldo Lau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3385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22262E"/>
                </a:solidFill>
                <a:latin typeface="Calibri"/>
              </a:rPr>
              <a:t>A verdict says this answer passed.  </a:t>
            </a:r>
            <a:r>
              <a:rPr sz="1350" b="0" i="0">
                <a:solidFill>
                  <a:srgbClr val="3E4450"/>
                </a:solidFill>
                <a:latin typeface="Calibri"/>
              </a:rPr>
              <a:t>A release decision says this agent is ready to deploy in this role, under these risks.  </a:t>
            </a:r>
            <a:r>
              <a:rPr sz="1350" b="1" i="1">
                <a:solidFill>
                  <a:srgbClr val="1F6FB5"/>
                </a:solidFill>
                <a:latin typeface="Calibri"/>
              </a:rPr>
              <a:t>Which failures matter, and by how much?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39" y="1627632"/>
            <a:ext cx="3520440" cy="3429000"/>
          </a:xfrm>
          <a:prstGeom prst="roundRect">
            <a:avLst/>
          </a:prstGeom>
          <a:solidFill>
            <a:srgbClr val="FBE9E7"/>
          </a:solidFill>
          <a:ln w="9525">
            <a:solidFill>
              <a:srgbClr val="B2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39" y="1627632"/>
            <a:ext cx="3520440" cy="411480"/>
          </a:xfrm>
          <a:prstGeom prst="roundRect">
            <a:avLst/>
          </a:prstGeom>
          <a:solidFill>
            <a:srgbClr val="B2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39" y="1929384"/>
            <a:ext cx="3520440" cy="109728"/>
          </a:xfrm>
          <a:prstGeom prst="rect">
            <a:avLst/>
          </a:prstGeom>
          <a:solidFill>
            <a:srgbClr val="B2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499" y="1664208"/>
            <a:ext cx="324612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The aggregation gap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   87% does not mean 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39" y="2221992"/>
            <a:ext cx="306324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1" y="2340864"/>
            <a:ext cx="2825496" cy="22128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3E4450"/>
                </a:solidFill>
                <a:latin typeface="Calibri"/>
              </a:rPr>
              <a:t>An agent scores </a:t>
            </a:r>
            <a:r>
              <a:rPr sz="1150" b="1" i="0">
                <a:solidFill>
                  <a:srgbClr val="22262E"/>
                </a:solidFill>
                <a:latin typeface="Calibri"/>
              </a:rPr>
              <a:t>87% on 520 tests</a:t>
            </a:r>
            <a:r>
              <a:rPr sz="1150" b="0" i="0">
                <a:solidFill>
                  <a:srgbClr val="3E4450"/>
                </a:solidFill>
                <a:latin typeface="Calibri"/>
              </a:rPr>
              <a:t>.  Team ships.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100" b="0" i="1">
                <a:solidFill>
                  <a:srgbClr val="3E4450"/>
                </a:solidFill>
                <a:latin typeface="Calibri"/>
              </a:rPr>
              <a:t>Three weeks later, a hallucination triggers an automated trade.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100" b="0" i="0">
                <a:solidFill>
                  <a:srgbClr val="3E4450"/>
                </a:solidFill>
                <a:latin typeface="Calibri"/>
              </a:rPr>
              <a:t>The failure </a:t>
            </a:r>
            <a:r>
              <a:rPr sz="1100" b="1" i="0">
                <a:solidFill>
                  <a:srgbClr val="B23A2F"/>
                </a:solidFill>
                <a:latin typeface="Calibri"/>
              </a:rPr>
              <a:t>was in the 13%</a:t>
            </a:r>
            <a:r>
              <a:rPr sz="1100" b="0" i="0">
                <a:solidFill>
                  <a:srgbClr val="3E4450"/>
                </a:solidFill>
                <a:latin typeface="Calibri"/>
              </a:rPr>
              <a:t>.  The aggregate number hid it.</a:t>
            </a:r>
          </a:p>
          <a:p>
            <a:pPr algn="l"/>
            <a:r>
              <a:rPr sz="6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150" b="1" i="0">
                <a:solidFill>
                  <a:srgbClr val="22262E"/>
                </a:solidFill>
                <a:latin typeface="Calibri"/>
              </a:rPr>
              <a:t>Why it fails:</a:t>
            </a:r>
          </a:p>
          <a:p>
            <a:pPr algn="l"/>
            <a:r>
              <a:rPr sz="1050" b="0" i="0">
                <a:solidFill>
                  <a:srgbClr val="3E4450"/>
                </a:solidFill>
                <a:latin typeface="Calibri"/>
              </a:rPr>
              <a:t>  ·  treats every failure as fungible</a:t>
            </a:r>
          </a:p>
          <a:p>
            <a:pPr algn="l"/>
            <a:r>
              <a:rPr sz="1050" b="0" i="0">
                <a:solidFill>
                  <a:srgbClr val="3E4450"/>
                </a:solidFill>
                <a:latin typeface="Calibri"/>
              </a:rPr>
              <a:t>  ·  weights a hallucination the same as a paraphrase miss</a:t>
            </a:r>
          </a:p>
          <a:p>
            <a:pPr algn="l"/>
            <a:r>
              <a:rPr sz="1050" b="0" i="0">
                <a:solidFill>
                  <a:srgbClr val="3E4450"/>
                </a:solidFill>
                <a:latin typeface="Calibri"/>
              </a:rPr>
              <a:t>  ·  gives the release committee one number, not a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19" y="4672584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100" b="1" i="1">
                <a:solidFill>
                  <a:srgbClr val="B23A2F"/>
                </a:solidFill>
                <a:latin typeface="Calibri"/>
              </a:rPr>
              <a:t>a score is not a ship / no-ship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00499" y="3154680"/>
            <a:ext cx="320040" cy="365760"/>
          </a:xfrm>
          <a:prstGeom prst="rightArrow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66259" y="1627632"/>
            <a:ext cx="3520440" cy="3429000"/>
          </a:xfrm>
          <a:prstGeom prst="roundRect">
            <a:avLst/>
          </a:prstGeom>
          <a:solidFill>
            <a:srgbClr val="E6F0FA"/>
          </a:solidFill>
          <a:ln w="9525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66259" y="1627632"/>
            <a:ext cx="3520440" cy="41148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6259" y="1929384"/>
            <a:ext cx="3520440" cy="109728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3419" y="1664208"/>
            <a:ext cx="324612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Severity × risk tier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   same evidence, different stakes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94859" y="2221992"/>
            <a:ext cx="306324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13731" y="2340864"/>
            <a:ext cx="2825496" cy="22128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E4450"/>
                </a:solidFill>
                <a:latin typeface="Calibri"/>
              </a:rPr>
              <a:t>Each failure is classified by </a:t>
            </a:r>
            <a:r>
              <a:rPr sz="1100" b="1" i="0">
                <a:solidFill>
                  <a:srgbClr val="22262E"/>
                </a:solidFill>
                <a:latin typeface="Calibri"/>
              </a:rPr>
              <a:t>three inputs</a:t>
            </a:r>
            <a:r>
              <a:rPr sz="1100" b="0" i="0">
                <a:solidFill>
                  <a:srgbClr val="3E4450"/>
                </a:solidFill>
                <a:latin typeface="Calibri"/>
              </a:rPr>
              <a:t>: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 ·  </a:t>
            </a:r>
            <a:r>
              <a:rPr sz="1050" b="1" i="0">
                <a:solidFill>
                  <a:srgbClr val="22262E"/>
                </a:solidFill>
                <a:latin typeface="Calibri"/>
              </a:rPr>
              <a:t>what broke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(28 codes, 7 families)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 ·  </a:t>
            </a:r>
            <a:r>
              <a:rPr sz="1050" b="1" i="0">
                <a:solidFill>
                  <a:srgbClr val="22262E"/>
                </a:solidFill>
                <a:latin typeface="Calibri"/>
              </a:rPr>
              <a:t>where deployed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(advisory / recommend / act)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 ·  </a:t>
            </a:r>
            <a:r>
              <a:rPr sz="1050" b="1" i="0">
                <a:solidFill>
                  <a:srgbClr val="22262E"/>
                </a:solidFill>
                <a:latin typeface="Calibri"/>
              </a:rPr>
              <a:t>how severe this one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(geometric scalar)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100" b="1" i="0">
                <a:solidFill>
                  <a:srgbClr val="1F6FB5"/>
                </a:solidFill>
                <a:latin typeface="Calibri"/>
              </a:rPr>
              <a:t>Same failure, escalated by tier: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onsolas"/>
              </a:rPr>
              <a:t>   </a:t>
            </a:r>
            <a:r>
              <a:rPr sz="1050" b="1" i="0">
                <a:solidFill>
                  <a:srgbClr val="22262E"/>
                </a:solidFill>
                <a:latin typeface="Consolas"/>
              </a:rPr>
              <a:t>fact_incorrect</a:t>
            </a:r>
            <a:r>
              <a:rPr sz="1050" b="0" i="0">
                <a:solidFill>
                  <a:srgbClr val="3E4450"/>
                </a:solidFill>
                <a:latin typeface="Consolas"/>
              </a:rPr>
              <a:t>      advisory  </a:t>
            </a:r>
            <a:r>
              <a:rPr sz="1050" b="1" i="0">
                <a:solidFill>
                  <a:srgbClr val="3E4450"/>
                </a:solidFill>
                <a:latin typeface="Consolas"/>
              </a:rPr>
              <a:t>HIGH</a:t>
            </a:r>
          </a:p>
          <a:p>
            <a:pPr algn="l"/>
            <a:r>
              <a:rPr sz="1050" b="0" i="0">
                <a:solidFill>
                  <a:srgbClr val="3E4450"/>
                </a:solidFill>
                <a:latin typeface="Consolas"/>
              </a:rPr>
              <a:t>                         action   </a:t>
            </a:r>
            <a:r>
              <a:rPr sz="1050" b="1" i="0">
                <a:solidFill>
                  <a:srgbClr val="B23A2F"/>
                </a:solidFill>
                <a:latin typeface="Consolas"/>
              </a:rPr>
              <a:t>CRITICAL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050" b="0" i="0">
                <a:solidFill>
                  <a:srgbClr val="3E4450"/>
                </a:solidFill>
                <a:latin typeface="Calibri"/>
              </a:rPr>
              <a:t>Cost of being wrong differs by role.  The pipeline </a:t>
            </a:r>
            <a:r>
              <a:rPr sz="1050" b="1" i="0">
                <a:solidFill>
                  <a:srgbClr val="22262E"/>
                </a:solidFill>
                <a:latin typeface="Calibri"/>
              </a:rPr>
              <a:t>expresses that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9139" y="4672584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100" b="1" i="1">
                <a:solidFill>
                  <a:srgbClr val="1F6FB5"/>
                </a:solidFill>
                <a:latin typeface="Calibri"/>
              </a:rPr>
              <a:t>a research aide ≠ a loan approver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32419" y="3154680"/>
            <a:ext cx="320040" cy="365760"/>
          </a:xfrm>
          <a:prstGeom prst="rightArrow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98179" y="1627632"/>
            <a:ext cx="3520440" cy="3429000"/>
          </a:xfrm>
          <a:prstGeom prst="roundRect">
            <a:avLst/>
          </a:prstGeom>
          <a:solidFill>
            <a:srgbClr val="E7F4EC"/>
          </a:solidFill>
          <a:ln w="952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98179" y="1627632"/>
            <a:ext cx="352044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98179" y="1929384"/>
            <a:ext cx="3520440" cy="10972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5339" y="1664208"/>
            <a:ext cx="324612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The release gate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   four dimensions, zero budgets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26779" y="2221992"/>
            <a:ext cx="306324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5651" y="2340864"/>
            <a:ext cx="2825496" cy="22128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E4450"/>
                </a:solidFill>
                <a:latin typeface="Calibri"/>
              </a:rPr>
              <a:t>Not one weighted sum  —  </a:t>
            </a:r>
            <a:r>
              <a:rPr sz="1100" b="1" i="0">
                <a:solidFill>
                  <a:srgbClr val="2E8B57"/>
                </a:solidFill>
                <a:latin typeface="Calibri"/>
              </a:rPr>
              <a:t>four independent gates</a:t>
            </a:r>
            <a:r>
              <a:rPr sz="1100" b="0" i="0">
                <a:solidFill>
                  <a:srgbClr val="3E4450"/>
                </a:solidFill>
                <a:latin typeface="Calibri"/>
              </a:rPr>
              <a:t>: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 ·  </a:t>
            </a:r>
            <a:r>
              <a:rPr sz="1050" b="1" i="0">
                <a:solidFill>
                  <a:srgbClr val="22262E"/>
                </a:solidFill>
                <a:latin typeface="Calibri"/>
              </a:rPr>
              <a:t>accuracy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         (how often correct)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 ·  </a:t>
            </a:r>
            <a:r>
              <a:rPr sz="1050" b="1" i="0">
                <a:solidFill>
                  <a:srgbClr val="22262E"/>
                </a:solidFill>
                <a:latin typeface="Calibri"/>
              </a:rPr>
              <a:t>geometric confidence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(how aligned)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 ·  </a:t>
            </a:r>
            <a:r>
              <a:rPr sz="1050" b="1" i="0">
                <a:solidFill>
                  <a:srgbClr val="22262E"/>
                </a:solidFill>
                <a:latin typeface="Calibri"/>
              </a:rPr>
              <a:t>tension / holonomy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  (consistency)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 ·  </a:t>
            </a:r>
            <a:r>
              <a:rPr sz="1050" b="1" i="0">
                <a:solidFill>
                  <a:srgbClr val="22262E"/>
                </a:solidFill>
                <a:latin typeface="Calibri"/>
              </a:rPr>
              <a:t>failure budget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       (zero-tolerance caps)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100" b="0" i="0">
                <a:solidFill>
                  <a:srgbClr val="3E4450"/>
                </a:solidFill>
                <a:latin typeface="Calibri"/>
              </a:rPr>
              <a:t>Blocks are </a:t>
            </a:r>
            <a:r>
              <a:rPr sz="1100" b="1" i="0">
                <a:solidFill>
                  <a:srgbClr val="2E8B57"/>
                </a:solidFill>
                <a:latin typeface="Calibri"/>
              </a:rPr>
              <a:t>named, not scored</a:t>
            </a:r>
            <a:r>
              <a:rPr sz="1100" b="0" i="0">
                <a:solidFill>
                  <a:srgbClr val="3E4450"/>
                </a:solidFill>
                <a:latin typeface="Calibri"/>
              </a:rPr>
              <a:t>.  Every verdict carries:</a:t>
            </a:r>
          </a:p>
          <a:p>
            <a:pPr algn="l"/>
            <a:r>
              <a:rPr sz="1050" b="0" i="0">
                <a:solidFill>
                  <a:srgbClr val="3E4450"/>
                </a:solidFill>
                <a:latin typeface="Calibri"/>
              </a:rPr>
              <a:t>  ·  severity level  +  composite score</a:t>
            </a:r>
          </a:p>
          <a:p>
            <a:pPr algn="l"/>
            <a:r>
              <a:rPr sz="1050" b="0" i="0">
                <a:solidFill>
                  <a:srgbClr val="3E4450"/>
                </a:solidFill>
                <a:latin typeface="Calibri"/>
              </a:rPr>
              <a:t>  ·  audit packet  (Q · answer · factors · verdict)</a:t>
            </a:r>
          </a:p>
          <a:p>
            <a:pPr algn="l"/>
            <a:r>
              <a:rPr sz="1050" b="0" i="0">
                <a:solidFill>
                  <a:srgbClr val="3E4450"/>
                </a:solidFill>
                <a:latin typeface="Calibri"/>
              </a:rPr>
              <a:t>  ·  </a:t>
            </a:r>
            <a:r>
              <a:rPr sz="1050" b="1" i="0">
                <a:solidFill>
                  <a:srgbClr val="22262E"/>
                </a:solidFill>
                <a:latin typeface="Calibri"/>
              </a:rPr>
              <a:t>provenance chain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  back to the source sentence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1059" y="4672584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100" b="1" i="1">
                <a:solidFill>
                  <a:srgbClr val="2E8B57"/>
                </a:solidFill>
                <a:latin typeface="Calibri"/>
              </a:rPr>
              <a:t>ship / no-ship with named reasons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212080"/>
            <a:ext cx="113385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276088"/>
            <a:ext cx="246888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142B4D"/>
                </a:solidFill>
                <a:latin typeface="Calibri"/>
              </a:rPr>
              <a:t>Example block reason: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276088"/>
            <a:ext cx="8686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22262E"/>
                </a:solidFill>
                <a:latin typeface="Consolas"/>
              </a:rPr>
              <a:t>[recommendation]  accuracy 0.73 &lt; 0.80   ·   geo_conf 0.48 &lt; 0.55   →   </a:t>
            </a:r>
            <a:r>
              <a:rPr sz="1100" b="1" i="0">
                <a:solidFill>
                  <a:srgbClr val="B23A2F"/>
                </a:solidFill>
                <a:latin typeface="Consolas"/>
              </a:rPr>
              <a:t>BLOCK</a:t>
            </a:r>
            <a:r>
              <a:rPr sz="1000" b="0" i="1">
                <a:solidFill>
                  <a:srgbClr val="6C7280"/>
                </a:solidFill>
                <a:latin typeface="Consolas"/>
              </a:rPr>
              <a:t>   (traces to doc 97bf497d… §model_inventory 1432–1461)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870448"/>
            <a:ext cx="11338560" cy="868680"/>
          </a:xfrm>
          <a:prstGeom prst="round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961888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Every threshold is calibrated.  Every blocking reason is named.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Every verdict traces back to a specific offset in a specific document version.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09360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The release committee does not need a system that is right most of the time  —  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it needs a system whose reasoning is inspectable, where every decision can be argued, overridden, or accepted on its merits.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