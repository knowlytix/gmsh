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Building Ground Truth</a:t>
            </a:r>
            <a:r>
              <a:rPr sz="1800" b="0" i="0">
                <a:solidFill>
                  <a:srgbClr val="6C7280"/>
                </a:solidFill>
                <a:latin typeface="Calibri"/>
              </a:rPr>
              <a:t>   —   from text to structured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2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22262E"/>
                </a:solidFill>
                <a:latin typeface="Calibri"/>
              </a:rPr>
              <a:t>Agents work on documents, not labeled datasets.  </a:t>
            </a:r>
            <a:r>
              <a:rPr sz="1400" b="0" i="0">
                <a:solidFill>
                  <a:srgbClr val="3E4450"/>
                </a:solidFill>
                <a:latin typeface="Calibri"/>
              </a:rPr>
              <a:t>The ground truth must be the document, made verifiable.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91640"/>
            <a:ext cx="3520440" cy="3017520"/>
          </a:xfrm>
          <a:prstGeom prst="roundRect">
            <a:avLst/>
          </a:prstGeom>
          <a:solidFill>
            <a:srgbClr val="ECEFF5"/>
          </a:solidFill>
          <a:ln w="9525">
            <a:solidFill>
              <a:srgbClr val="4A6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91640"/>
            <a:ext cx="3520440" cy="411480"/>
          </a:xfrm>
          <a:prstGeom prst="roundRect">
            <a:avLst/>
          </a:prstGeom>
          <a:solidFill>
            <a:srgbClr val="4A6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93392"/>
            <a:ext cx="3520440" cy="109728"/>
          </a:xfrm>
          <a:prstGeom prst="rect">
            <a:avLst/>
          </a:prstGeom>
          <a:solidFill>
            <a:srgbClr val="4A6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72821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Document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prose, tables, bullets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331720"/>
            <a:ext cx="3063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" y="2468880"/>
            <a:ext cx="2788920" cy="1691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E4450"/>
                </a:solidFill>
                <a:latin typeface="Consolas"/>
              </a:rPr>
              <a:t>“...  MDL-001  achieved 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onsolas"/>
              </a:rPr>
              <a:t>train AUC 0.8934,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onsolas"/>
              </a:rPr>
              <a:t>test AUC 0.8412,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onsolas"/>
              </a:rPr>
              <a:t>with a train-test gap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onsolas"/>
              </a:rPr>
              <a:t>of 0.0522. 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onsolas"/>
              </a:rPr>
              <a:t>Depends on MDL-009. 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4A698F"/>
                </a:solidFill>
                <a:latin typeface="Calibri"/>
              </a:rPr>
              <a:t>ambiguous  ·  not queryable  ·  prose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3017520"/>
            <a:ext cx="320040" cy="365760"/>
          </a:xfrm>
          <a:prstGeom prst="right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91640"/>
            <a:ext cx="3520440" cy="301752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91640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93392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72821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Knowledge Graph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head · relation · 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331720"/>
            <a:ext cx="3063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6299" y="2441448"/>
            <a:ext cx="2880360" cy="1783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(MDL-001, has_train_auc, 0.8934)</a:t>
            </a:r>
          </a:p>
          <a:p>
            <a:pPr algn="l"/>
            <a:r>
              <a:rPr sz="1050" b="1" i="0">
                <a:solidFill>
                  <a:srgbClr val="1F6FB5"/>
                </a:solidFill>
                <a:latin typeface="Consolas"/>
              </a:rPr>
              <a:t>(MDL-001, has_test_auc,  0.8412)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(MDL-001, has_gap,       0.0522)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(MDL-001, depends_on,    MDL-009)</a:t>
            </a:r>
          </a:p>
          <a:p>
            <a:pPr algn="l"/>
            <a:r>
              <a:rPr sz="1050" b="0" i="1">
                <a:solidFill>
                  <a:srgbClr val="6C7280"/>
                </a:solidFill>
                <a:latin typeface="Consolas"/>
              </a:rP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1F6FB5"/>
                </a:solidFill>
                <a:latin typeface="Calibri"/>
              </a:rPr>
              <a:t>explicit  ·  typed  ·  exact-match queryable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301752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91640"/>
            <a:ext cx="3520440" cy="301752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91640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93392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72821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Ground-Truth Store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verifiable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331720"/>
            <a:ext cx="306324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3939" y="2468880"/>
            <a:ext cx="2788920" cy="1783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2262E"/>
                </a:solidFill>
                <a:latin typeface="Calibri"/>
              </a:rPr>
              <a:t>Geometric embedding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    plausibility = distance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    contradiction = a scalar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200" b="1" i="0">
                <a:solidFill>
                  <a:srgbClr val="22262E"/>
                </a:solidFill>
                <a:latin typeface="Calibri"/>
              </a:rPr>
              <a:t>Exact numeric register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    bit-exact values + integrity 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2E8B57"/>
                </a:solidFill>
                <a:latin typeface="Calibri"/>
              </a:rPr>
              <a:t>every claim  →  one deterministic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C7280"/>
                </a:solidFill>
                <a:latin typeface="Calibri"/>
              </a:rPr>
              <a:t>Four stages of the pipeline:</a:t>
            </a:r>
            <a:r>
              <a:rPr sz="1300" b="1" i="0">
                <a:solidFill>
                  <a:srgbClr val="142B4D"/>
                </a:solidFill>
                <a:latin typeface="Consolas"/>
              </a:rPr>
              <a:t>    Parse  →  Index  →  Train  → 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84648"/>
            <a:ext cx="11338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read tables &amp; bullets  ·  build typed vocabulary  ·  learn geometry  ·  hash exact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77840"/>
            <a:ext cx="11338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562D"/>
                </a:solidFill>
                <a:latin typeface="Calibri"/>
              </a:rPr>
              <a:t>Every agent claim becomes a deterministic check: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61888"/>
            <a:ext cx="73152" cy="73152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70448"/>
            <a:ext cx="2039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fact supported?  distance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0632" y="5961888"/>
            <a:ext cx="73152" cy="73152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5870448"/>
            <a:ext cx="2039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contradicts?  scalar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38344" y="5961888"/>
            <a:ext cx="73152" cy="73152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5870448"/>
            <a:ext cx="2039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reasoning consistent?  path check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6056" y="5961888"/>
            <a:ext cx="73152" cy="73152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5870448"/>
            <a:ext cx="2039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exact number?  lookup + hash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73768" y="5961888"/>
            <a:ext cx="73152" cy="73152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8" y="5870448"/>
            <a:ext cx="2039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meets threshold?  encoded compare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263640"/>
            <a:ext cx="11338560" cy="45720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355080"/>
            <a:ext cx="108813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14,544-char risk report  →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508 entities  ·  66 relations  ·  807 triples  ·  261 exact numbers.</a:t>
            </a:r>
            <a:r>
              <a:rPr sz="1150" b="0" i="1">
                <a:solidFill>
                  <a:srgbClr val="FFFFFF"/>
                </a:solidFill>
                <a:latin typeface="Calibri"/>
              </a:rPr>
              <a:t>   No prose left to re-interpret.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